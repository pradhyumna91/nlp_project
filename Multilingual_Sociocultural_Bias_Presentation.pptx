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521" r:id="rId5"/>
    <p:sldId id="325" r:id="rId6"/>
    <p:sldId id="601" r:id="rId7"/>
    <p:sldId id="602" r:id="rId8"/>
    <p:sldId id="603" r:id="rId9"/>
    <p:sldId id="604" r:id="rId10"/>
    <p:sldId id="605" r:id="rId11"/>
    <p:sldId id="606" r:id="rId12"/>
    <p:sldId id="516" r:id="rId13"/>
    <p:sldId id="607" r:id="rId14"/>
    <p:sldId id="608" r:id="rId15"/>
    <p:sldId id="609" r:id="rId16"/>
    <p:sldId id="610" r:id="rId17"/>
    <p:sldId id="611" r:id="rId18"/>
    <p:sldId id="612" r:id="rId19"/>
    <p:sldId id="613" r:id="rId20"/>
    <p:sldId id="614" r:id="rId21"/>
    <p:sldId id="615" r:id="rId22"/>
    <p:sldId id="616" r:id="rId23"/>
    <p:sldId id="617" r:id="rId24"/>
    <p:sldId id="434" r:id="rId25"/>
    <p:sldId id="442" r:id="rId26"/>
    <p:sldId id="520" r:id="rId27"/>
  </p:sldIdLst>
  <p:sldSz cx="12192000" cy="6858000"/>
  <p:notesSz cx="9144000" cy="6858000"/>
  <p:embeddedFontLst>
    <p:embeddedFont>
      <p:font typeface="PT serif" panose="020A0603040505020204" pitchFamily="18" charset="77"/>
      <p:regular r:id="rId30"/>
      <p:bold r:id="rId31"/>
      <p:italic r:id="rId32"/>
      <p:boldItalic r:id="rId33"/>
    </p:embeddedFont>
    <p:embeddedFont>
      <p:font typeface="Roboto" panose="02000000000000000000" pitchFamily="2" charset="0"/>
      <p:regular r:id="rId34"/>
      <p:bold r:id="rId35"/>
      <p:italic r:id="rId36"/>
      <p:boldItalic r:id="rId37"/>
    </p:embeddedFont>
    <p:embeddedFont>
      <p:font typeface="Source sans 3" panose="020B0303030403020204" pitchFamily="34" charset="0"/>
      <p:regular r:id="rId38"/>
      <p:bold r:id="rId39"/>
      <p:italic r:id="rId40"/>
      <p:boldItalic r:id="rId41"/>
    </p:embeddedFont>
    <p:embeddedFont>
      <p:font typeface="Source Sans Pro" panose="020B0503030403020204" pitchFamily="34" charset="0"/>
      <p:regular r:id="rId42"/>
      <p:bold r:id="rId43"/>
      <p:italic r:id="rId44"/>
      <p:boldItalic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F6A"/>
    <a:srgbClr val="E3F3EF"/>
    <a:srgbClr val="007FAC"/>
    <a:srgbClr val="DCEEF7"/>
    <a:srgbClr val="FFF6D4"/>
    <a:srgbClr val="EBB600"/>
    <a:srgbClr val="CC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 autoAdjust="0"/>
    <p:restoredTop sz="84521" autoAdjust="0"/>
  </p:normalViewPr>
  <p:slideViewPr>
    <p:cSldViewPr snapToGrid="0" snapToObjects="1">
      <p:cViewPr varScale="1">
        <p:scale>
          <a:sx n="106" d="100"/>
          <a:sy n="106" d="100"/>
        </p:scale>
        <p:origin x="752" y="18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31296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28" d="100"/>
          <a:sy n="128" d="100"/>
        </p:scale>
        <p:origin x="5064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0.fntdata"/><Relationship Id="rId21" Type="http://schemas.openxmlformats.org/officeDocument/2006/relationships/slide" Target="slides/slide17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handoutMaster" Target="handoutMasters/handoutMaster1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7.fntdata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font" Target="fonts/font1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77051E-B811-D949-830F-55D35BA79C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2EC375-152E-3F4A-8C1A-308E3DFABC4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830E4C-56B7-2443-B370-610F8D1BCD9C}" type="datetimeFigureOut">
              <a:rPr lang="en-US" smtClean="0"/>
              <a:t>4/26/26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AD90D4-C48B-C647-BA8A-B43CFA99A4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0E78B-91EF-F148-8F7B-2AEC532510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7D0152-5968-C24B-9EC0-2DFF74304A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2488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CD2FD1-B169-9B41-A890-0ECD81C3476C}" type="datetimeFigureOut">
              <a:rPr lang="en-US" smtClean="0"/>
              <a:t>4/26/26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9943EA-69D9-7E49-97CD-A49926F617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127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replace the Rutgers logo in the footer with your school/unit/department logo: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 to the menu and look for Master&gt;Slide Master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When in slide master mode, control-click on a Mac and right-click on a PC, to replace the Rutgers logo with your school/unit logo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When the window appears, select "Change Picture&gt;From File," then locate your logo on your desktop. It will replace the Rutgers logo with your logo at the proper size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You will have to do this process for every master slide that has the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682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79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dotted rule is on the Master Slides. To customize or adjust the dotted rule: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 to the menu and look for Master&gt;Slide Master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When in slide master mode, you can select the dotted rule to edit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74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dotted rule is on the Master Slides. To customize or adjust the dotted rule: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 to the menu and look for Master&gt;Slide Master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When in slide master mode, you can select the dotted rule to edit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877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628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Title Slide">
    <p:bg>
      <p:bgPr>
        <a:solidFill>
          <a:srgbClr val="CC0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4724" y="2777047"/>
            <a:ext cx="10264775" cy="1843238"/>
          </a:xfrm>
        </p:spPr>
        <p:txBody>
          <a:bodyPr lIns="0" tIns="0" rIns="0" bIns="0" anchor="t" anchorCtr="0">
            <a:noAutofit/>
          </a:bodyPr>
          <a:lstStyle>
            <a:lvl1pPr algn="ctr">
              <a:defRPr sz="5800" b="1" i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055E247-542B-D541-8F36-DBA97343BC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74724" y="4645761"/>
            <a:ext cx="10264775" cy="407460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2400" b="0" i="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Optional Subhead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2BBC7A98-1B1E-8545-AABD-0F79723A23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4724" y="5430411"/>
            <a:ext cx="10264775" cy="46310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n-lt"/>
                <a:ea typeface="Roboto" panose="020000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Month XX, 20XX</a:t>
            </a:r>
          </a:p>
        </p:txBody>
      </p:sp>
      <p:sp>
        <p:nvSpPr>
          <p:cNvPr id="9" name="Picture Placeholder 7" descr="Placeholder image.">
            <a:extLst>
              <a:ext uri="{FF2B5EF4-FFF2-40B4-BE49-F238E27FC236}">
                <a16:creationId xmlns:a16="http://schemas.microsoft.com/office/drawing/2014/main" id="{127CC99D-89B9-36EA-A1D7-E78F085DC0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76075" y="784025"/>
            <a:ext cx="2862072" cy="731520"/>
          </a:xfrm>
        </p:spPr>
        <p:txBody>
          <a:bodyPr/>
          <a:lstStyle/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2B32CA2-330C-DDB4-F1B5-494D9559B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76075" y="2079811"/>
            <a:ext cx="2862072" cy="0"/>
          </a:xfrm>
          <a:prstGeom prst="line">
            <a:avLst/>
          </a:prstGeom>
          <a:ln w="25400" cap="rnd">
            <a:solidFill>
              <a:schemeClr val="bg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889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00">
          <p15:clr>
            <a:srgbClr val="FBAE40"/>
          </p15:clr>
        </p15:guide>
        <p15:guide id="3" pos="70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Section Header">
    <p:bg>
      <p:bgPr>
        <a:solidFill>
          <a:srgbClr val="CC0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2500" y="2805221"/>
            <a:ext cx="10286999" cy="759906"/>
          </a:xfrm>
        </p:spPr>
        <p:txBody>
          <a:bodyPr lIns="0" tIns="0" rIns="0" bIns="0" anchor="t" anchorCtr="0">
            <a:noAutofit/>
          </a:bodyPr>
          <a:lstStyle>
            <a:lvl1pPr algn="ctr">
              <a:defRPr sz="5400" b="1">
                <a:solidFill>
                  <a:schemeClr val="bg1"/>
                </a:solidFill>
                <a:latin typeface="+mj-lt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Red Section Header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055E247-542B-D541-8F36-DBA97343BC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52500" y="3791876"/>
            <a:ext cx="10286999" cy="407460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2400" b="0">
                <a:solidFill>
                  <a:schemeClr val="bg1"/>
                </a:solidFill>
                <a:latin typeface="+mn-lt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Optional Section Subtitle</a:t>
            </a:r>
          </a:p>
        </p:txBody>
      </p:sp>
    </p:spTree>
    <p:extLst>
      <p:ext uri="{BB962C8B-B14F-4D97-AF65-F5344CB8AC3E}">
        <p14:creationId xmlns:p14="http://schemas.microsoft.com/office/powerpoint/2010/main" val="2721272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600" userDrawn="1">
          <p15:clr>
            <a:srgbClr val="FBAE40"/>
          </p15:clr>
        </p15:guide>
        <p15:guide id="4" pos="70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7013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Line Title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BE68DE55-0579-EC46-BD52-181870AFB6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520" y="548640"/>
            <a:ext cx="9509760" cy="592035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One Line Title with Bullets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D0ECDD9-4CD8-573B-B7B7-D862A423DC94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731520" y="1143000"/>
            <a:ext cx="9509760" cy="415155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RED Subhead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DD87B37-65BF-5A59-C884-80B72577A29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1520" y="1787488"/>
            <a:ext cx="9509760" cy="4258634"/>
          </a:xfrm>
        </p:spPr>
        <p:txBody>
          <a:bodyPr lIns="0" tIns="0" rIns="0" bIns="0">
            <a:noAutofit/>
          </a:bodyPr>
          <a:lstStyle>
            <a:lvl1pPr marL="228600" indent="-228600">
              <a:buClr>
                <a:schemeClr val="accent1"/>
              </a:buClr>
              <a:buSzPct val="95000"/>
              <a:buFont typeface="Arial" panose="020B0604020202020204" pitchFamily="34" charset="0"/>
              <a:buChar char="•"/>
              <a:defRPr sz="1600">
                <a:latin typeface="+mn-lt"/>
                <a:ea typeface="Roboto" panose="02000000000000000000" pitchFamily="2" charset="0"/>
              </a:defRPr>
            </a:lvl1pPr>
            <a:lvl2pPr marL="685800" indent="-228600">
              <a:buClr>
                <a:schemeClr val="accent1"/>
              </a:buClr>
              <a:buSzPct val="100000"/>
              <a:buFont typeface="Roboto" panose="02000000000000000000" pitchFamily="2" charset="0"/>
              <a:buChar char="–"/>
              <a:defRPr sz="1600">
                <a:latin typeface="+mn-lt"/>
                <a:ea typeface="Roboto" panose="02000000000000000000" pitchFamily="2" charset="0"/>
              </a:defRPr>
            </a:lvl2pPr>
            <a:lvl3pPr marL="1143000" indent="-228600"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latin typeface="+mn-lt"/>
                <a:ea typeface="Roboto" panose="02000000000000000000" pitchFamily="2" charset="0"/>
              </a:defRPr>
            </a:lvl3pPr>
            <a:lvl4pPr marL="16002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>
                <a:latin typeface="+mn-lt"/>
                <a:ea typeface="Roboto" panose="02000000000000000000" pitchFamily="2" charset="0"/>
              </a:defRPr>
            </a:lvl4pPr>
            <a:lvl5pPr marL="20574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>
                <a:latin typeface="+mn-lt"/>
                <a:ea typeface="Roboto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latin typeface="+mn-lt"/>
              </a:rPr>
              <a:t>Intro copy to go here.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Bullet item one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Bullet item two</a:t>
            </a:r>
            <a:endParaRPr lang="en-US" dirty="0">
              <a:latin typeface="+mn-lt"/>
            </a:endParaRPr>
          </a:p>
          <a:p>
            <a:pPr lvl="2">
              <a:buClr>
                <a:schemeClr val="accent1"/>
              </a:buClr>
            </a:pPr>
            <a:r>
              <a:rPr lang="en-US" dirty="0">
                <a:latin typeface="+mn-lt"/>
              </a:rPr>
              <a:t>Sub item one</a:t>
            </a:r>
          </a:p>
          <a:p>
            <a:pPr lvl="2">
              <a:buClr>
                <a:schemeClr val="accent1"/>
              </a:buClr>
            </a:pPr>
            <a:r>
              <a:rPr lang="en-US" dirty="0">
                <a:latin typeface="+mn-lt"/>
              </a:rPr>
              <a:t>Sub item two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Bullet item three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BAC4B4-565E-FB10-3C0E-648A3FE5E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34484"/>
            <a:ext cx="12192000" cy="523516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6D280C-CCA1-116B-F5FF-EB32813CF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31520" y="6436353"/>
            <a:ext cx="1323991" cy="338328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F206A0EF-437B-1AA4-E976-65DBE3C9F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540912" y="6442110"/>
            <a:ext cx="308264" cy="3082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1E9102-3200-3A4F-979C-CF12D94DA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430692" y="6483096"/>
            <a:ext cx="528705" cy="24622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fld id="{EBC9AC92-EC09-C846-AF8D-0ACA08F55242}" type="slidenum">
              <a:rPr lang="en-US" sz="1000" smtClean="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pPr algn="ctr"/>
              <a:t>‹#›</a:t>
            </a:fld>
            <a:endParaRPr lang="en-US" sz="1000">
              <a:solidFill>
                <a:schemeClr val="bg1"/>
              </a:solidFill>
              <a:latin typeface="+mn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EE2E1CE-021C-1C0C-6C3E-D2E3E3D89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16441" y="6428232"/>
            <a:ext cx="81012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View &gt;&gt; Header and Footer &gt;&gt; Add Unit, Office, or Department Name</a:t>
            </a:r>
          </a:p>
        </p:txBody>
      </p:sp>
    </p:spTree>
    <p:extLst>
      <p:ext uri="{BB962C8B-B14F-4D97-AF65-F5344CB8AC3E}">
        <p14:creationId xmlns:p14="http://schemas.microsoft.com/office/powerpoint/2010/main" val="691165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" userDrawn="1">
          <p15:clr>
            <a:srgbClr val="FBAE40"/>
          </p15:clr>
        </p15:guide>
        <p15:guide id="2" pos="456" userDrawn="1">
          <p15:clr>
            <a:srgbClr val="FBAE40"/>
          </p15:clr>
        </p15:guide>
        <p15:guide id="3" pos="6456" userDrawn="1">
          <p15:clr>
            <a:srgbClr val="FBAE40"/>
          </p15:clr>
        </p15:guide>
        <p15:guide id="4" pos="3840" userDrawn="1">
          <p15:clr>
            <a:srgbClr val="FBAE40"/>
          </p15:clr>
        </p15:guide>
        <p15:guide id="7" orient="horz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7C3D46F0-0006-469D-9C96-A2B5BF708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520" y="544441"/>
            <a:ext cx="9509760" cy="574781"/>
          </a:xfrm>
        </p:spPr>
        <p:txBody>
          <a:bodyPr lIns="0" tIns="0" rIns="0" bIns="0" anchor="t" anchorCtr="0">
            <a:noAutofit/>
          </a:bodyPr>
          <a:lstStyle>
            <a:lvl1pPr>
              <a:defRPr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Two Column Speaker Title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4E58F92B-809C-CC06-DD7F-BFC2F79A4A4D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731520" y="1143000"/>
            <a:ext cx="9509760" cy="415155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RED Subhead</a:t>
            </a:r>
          </a:p>
        </p:txBody>
      </p:sp>
      <p:sp>
        <p:nvSpPr>
          <p:cNvPr id="4" name="Picture Placeholder 4" descr="Round placeholder image.">
            <a:extLst>
              <a:ext uri="{FF2B5EF4-FFF2-40B4-BE49-F238E27FC236}">
                <a16:creationId xmlns:a16="http://schemas.microsoft.com/office/drawing/2014/main" id="{91AAE0CB-9CB9-ADD1-4FF0-FF4995FF5AD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854224" y="2046477"/>
            <a:ext cx="1746504" cy="1746504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anchor="ctr" anchorCtr="0"/>
          <a:lstStyle>
            <a:lvl1pPr marL="0" indent="0" algn="ctr">
              <a:buNone/>
              <a:defRPr sz="1600" b="0" i="0">
                <a:solidFill>
                  <a:schemeClr val="accent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E66D5B3B-5D2F-00F6-ABA6-CC4639582633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1977632" y="4091187"/>
            <a:ext cx="3499689" cy="536331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600" b="1" u="none">
                <a:effectLst/>
              </a:defRPr>
            </a:lvl1pPr>
          </a:lstStyle>
          <a:p>
            <a:pPr lvl="0"/>
            <a:r>
              <a:rPr lang="en-US" dirty="0"/>
              <a:t>First Name Last Name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A91581E-29B3-C252-56F1-14680E52F4DA}"/>
              </a:ext>
            </a:extLst>
          </p:cNvPr>
          <p:cNvSpPr>
            <a:spLocks noGrp="1"/>
          </p:cNvSpPr>
          <p:nvPr>
            <p:ph type="body" sz="half" idx="35" hasCustomPrompt="1"/>
          </p:nvPr>
        </p:nvSpPr>
        <p:spPr>
          <a:xfrm>
            <a:off x="1984247" y="4723046"/>
            <a:ext cx="3499689" cy="129844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600" b="0"/>
            </a:lvl1pPr>
          </a:lstStyle>
          <a:p>
            <a:r>
              <a:rPr lang="en-US" dirty="0"/>
              <a:t>Supporting text.</a:t>
            </a:r>
            <a:endParaRPr lang="en-US" dirty="0">
              <a:effectLst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19EA62-45D4-A473-2CFC-47219E14B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34484"/>
            <a:ext cx="12192000" cy="523516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F4E9D056-BE96-7B10-1722-9014606D2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16441" y="6428232"/>
            <a:ext cx="81012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View &gt;&gt; Header and Footer &gt;&gt; Add Unit, Office, or Department Name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7B91F9-361B-AA3B-3AB3-4FBB4C622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540912" y="6442110"/>
            <a:ext cx="308264" cy="3082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FC3C6D-5DB8-1208-F395-ED6DC09C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430692" y="6483096"/>
            <a:ext cx="528705" cy="24622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fld id="{EBC9AC92-EC09-C846-AF8D-0ACA08F55242}" type="slidenum">
              <a:rPr lang="en-US" sz="1000" smtClean="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pPr algn="ctr"/>
              <a:t>‹#›</a:t>
            </a:fld>
            <a:endParaRPr lang="en-US" sz="1000">
              <a:solidFill>
                <a:schemeClr val="bg1"/>
              </a:solidFill>
              <a:latin typeface="+mn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Picture Placeholder 4" descr="Round placeholder image.">
            <a:extLst>
              <a:ext uri="{FF2B5EF4-FFF2-40B4-BE49-F238E27FC236}">
                <a16:creationId xmlns:a16="http://schemas.microsoft.com/office/drawing/2014/main" id="{C43965C4-03F2-331E-3EF9-1F3EF347F0E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596494" y="2048256"/>
            <a:ext cx="1746504" cy="1746504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anchor="ctr" anchorCtr="0"/>
          <a:lstStyle>
            <a:lvl1pPr marL="0" indent="0" algn="ctr">
              <a:buNone/>
              <a:defRPr sz="1600" b="0" i="0">
                <a:solidFill>
                  <a:schemeClr val="accent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3DBC5BE-4651-FAA8-9924-6744580811C0}"/>
              </a:ext>
            </a:extLst>
          </p:cNvPr>
          <p:cNvSpPr>
            <a:spLocks noGrp="1"/>
          </p:cNvSpPr>
          <p:nvPr>
            <p:ph type="body" sz="half" idx="33" hasCustomPrompt="1"/>
          </p:nvPr>
        </p:nvSpPr>
        <p:spPr>
          <a:xfrm>
            <a:off x="6706833" y="4090831"/>
            <a:ext cx="3525827" cy="536331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600" b="1"/>
            </a:lvl1pPr>
          </a:lstStyle>
          <a:p>
            <a:pPr lvl="0"/>
            <a:r>
              <a:rPr lang="en-US" dirty="0"/>
              <a:t>First Name Last Name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0759D82D-D3DF-5E96-F952-AB55317E00D8}"/>
              </a:ext>
            </a:extLst>
          </p:cNvPr>
          <p:cNvSpPr>
            <a:spLocks noGrp="1"/>
          </p:cNvSpPr>
          <p:nvPr>
            <p:ph type="body" sz="half" idx="32" hasCustomPrompt="1"/>
          </p:nvPr>
        </p:nvSpPr>
        <p:spPr>
          <a:xfrm>
            <a:off x="6706833" y="4723046"/>
            <a:ext cx="3525827" cy="1298448"/>
          </a:xfrm>
        </p:spPr>
        <p:txBody>
          <a:bodyPr anchor="t" anchorCtr="1"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dirty="0"/>
              <a:t>Supporting text.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15A80B-B47C-AD5A-EEEB-76DA20029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4769" y="2070801"/>
            <a:ext cx="1231" cy="3886200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184D08E-C4BD-EE37-23D5-F1FCD9820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31520" y="6436353"/>
            <a:ext cx="1323991" cy="33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593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24" userDrawn="1">
          <p15:clr>
            <a:srgbClr val="FBAE40"/>
          </p15:clr>
        </p15:guide>
        <p15:guide id="2" pos="456" userDrawn="1">
          <p15:clr>
            <a:srgbClr val="FBAE40"/>
          </p15:clr>
        </p15:guide>
        <p15:guide id="3" pos="7224" userDrawn="1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272" userDrawn="1">
          <p15:clr>
            <a:srgbClr val="FBAE40"/>
          </p15:clr>
        </p15:guide>
        <p15:guide id="6" orient="horz" pos="3696" userDrawn="1">
          <p15:clr>
            <a:srgbClr val="FBAE40"/>
          </p15:clr>
        </p15:guide>
        <p15:guide id="7" orient="horz" pos="33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62D2F673-8F81-4982-AA66-35312BF385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519" y="548640"/>
            <a:ext cx="10286995" cy="576072"/>
          </a:xfrm>
        </p:spPr>
        <p:txBody>
          <a:bodyPr lIns="0" tIns="0" rIns="0" bIns="0" anchor="t" anchorCtr="0">
            <a:noAutofit/>
          </a:bodyPr>
          <a:lstStyle>
            <a:lvl1pPr>
              <a:defRPr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Two Column Layout Title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21D38215-D01C-30CC-6DDD-F7C50C9751BD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731520" y="1143000"/>
            <a:ext cx="10286996" cy="415155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RED Subhead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0E7D05F-EDA5-F88B-C1D4-22B6D3BA1B4C}"/>
              </a:ext>
            </a:extLst>
          </p:cNvPr>
          <p:cNvSpPr>
            <a:spLocks noGrp="1"/>
          </p:cNvSpPr>
          <p:nvPr>
            <p:ph type="body" sz="half" idx="36" hasCustomPrompt="1"/>
          </p:nvPr>
        </p:nvSpPr>
        <p:spPr>
          <a:xfrm>
            <a:off x="731520" y="1834468"/>
            <a:ext cx="4902497" cy="625873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D26029E8-1F3D-194F-4A6D-6A5D4404E19B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731518" y="2485187"/>
            <a:ext cx="4902487" cy="3415853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column text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9DAF8F5-0C65-16E6-A866-F8BC276B1981}"/>
              </a:ext>
            </a:extLst>
          </p:cNvPr>
          <p:cNvSpPr>
            <a:spLocks noGrp="1"/>
          </p:cNvSpPr>
          <p:nvPr>
            <p:ph type="body" sz="half" idx="38" hasCustomPrompt="1"/>
          </p:nvPr>
        </p:nvSpPr>
        <p:spPr>
          <a:xfrm>
            <a:off x="6554931" y="1828726"/>
            <a:ext cx="4902497" cy="625873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982FDD0-CC59-2E2C-2989-6558E7F88FC5}"/>
              </a:ext>
            </a:extLst>
          </p:cNvPr>
          <p:cNvSpPr>
            <a:spLocks noGrp="1"/>
          </p:cNvSpPr>
          <p:nvPr>
            <p:ph type="body" sz="half" idx="39" hasCustomPrompt="1"/>
          </p:nvPr>
        </p:nvSpPr>
        <p:spPr>
          <a:xfrm>
            <a:off x="6554941" y="2485187"/>
            <a:ext cx="4902487" cy="3415853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column 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6F6A6F-803F-4A95-E548-E4EF44169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34484"/>
            <a:ext cx="12192000" cy="523516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418FC17-46A3-DBBD-CC51-7C929387C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16441" y="6428232"/>
            <a:ext cx="81012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View &gt;&gt; Header and Footer &gt;&gt; Add Unit, Office, or Department Name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56D4201-48A4-BBAD-BAFE-BA46201A8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540912" y="6442110"/>
            <a:ext cx="308264" cy="3082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83DFD1-653E-E8D7-C5AE-F1A60BAE9F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430692" y="6483096"/>
            <a:ext cx="528705" cy="24622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fld id="{EBC9AC92-EC09-C846-AF8D-0ACA08F55242}" type="slidenum">
              <a:rPr lang="en-US" sz="1000" smtClean="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pPr algn="ctr"/>
              <a:t>‹#›</a:t>
            </a:fld>
            <a:endParaRPr lang="en-US" sz="1000">
              <a:solidFill>
                <a:schemeClr val="bg1"/>
              </a:solidFill>
              <a:latin typeface="+mn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979AB66-0E57-3073-C75C-894FE58F7E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9048" y="1828726"/>
            <a:ext cx="0" cy="4038246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87427CC8-A1B2-51D9-394B-7C4024992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31520" y="6436353"/>
            <a:ext cx="1323991" cy="33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422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0" userDrawn="1">
          <p15:clr>
            <a:srgbClr val="FBAE40"/>
          </p15:clr>
        </p15:guide>
        <p15:guide id="2" pos="456" userDrawn="1">
          <p15:clr>
            <a:srgbClr val="FBAE40"/>
          </p15:clr>
        </p15:guide>
        <p15:guide id="3" pos="7224" userDrawn="1">
          <p15:clr>
            <a:srgbClr val="FBAE40"/>
          </p15:clr>
        </p15:guide>
        <p15:guide id="6" orient="horz" pos="33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Photo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B103BAF8-AE0C-4C2A-AFFE-5EFC74007B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520" y="548640"/>
            <a:ext cx="10719724" cy="576072"/>
          </a:xfrm>
        </p:spPr>
        <p:txBody>
          <a:bodyPr lIns="0" tIns="0" rIns="0" bIns="0" anchor="t" anchorCtr="0">
            <a:noAutofit/>
          </a:bodyPr>
          <a:lstStyle>
            <a:lvl1pPr>
              <a:defRPr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Three Column Layout Title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856F633-5EF1-0E5D-0A3A-9D3739C86162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731519" y="1143000"/>
            <a:ext cx="10719721" cy="415155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RED Subhead</a:t>
            </a:r>
          </a:p>
        </p:txBody>
      </p:sp>
      <p:sp>
        <p:nvSpPr>
          <p:cNvPr id="11" name="Picture Placeholder 4" descr="Rectangle placeholder image.">
            <a:extLst>
              <a:ext uri="{FF2B5EF4-FFF2-40B4-BE49-F238E27FC236}">
                <a16:creationId xmlns:a16="http://schemas.microsoft.com/office/drawing/2014/main" id="{088F3CA4-7F9E-BCAA-AE9D-86804E74BFA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521" y="1837944"/>
            <a:ext cx="2953512" cy="178754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2000" b="0" i="0">
                <a:solidFill>
                  <a:schemeClr val="accent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A9FAE1B-945C-3FEE-ED89-B3719609EC18}"/>
              </a:ext>
            </a:extLst>
          </p:cNvPr>
          <p:cNvSpPr>
            <a:spLocks noGrp="1"/>
          </p:cNvSpPr>
          <p:nvPr>
            <p:ph type="body" sz="half" idx="36" hasCustomPrompt="1"/>
          </p:nvPr>
        </p:nvSpPr>
        <p:spPr>
          <a:xfrm>
            <a:off x="731521" y="3826898"/>
            <a:ext cx="2951326" cy="625873"/>
          </a:xfr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 dirty="0"/>
              <a:t>Click to edit column header second 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B28C04-FBBF-307D-EE65-F1618FFD8BF8}"/>
              </a:ext>
            </a:extLst>
          </p:cNvPr>
          <p:cNvSpPr>
            <a:spLocks noGrp="1"/>
          </p:cNvSpPr>
          <p:nvPr>
            <p:ph type="body" sz="half" idx="35" hasCustomPrompt="1"/>
          </p:nvPr>
        </p:nvSpPr>
        <p:spPr>
          <a:xfrm>
            <a:off x="731520" y="4430181"/>
            <a:ext cx="2944368" cy="1427129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column text</a:t>
            </a:r>
          </a:p>
        </p:txBody>
      </p:sp>
      <p:sp>
        <p:nvSpPr>
          <p:cNvPr id="12" name="Picture Placeholder 4" descr="Rectangle placeholder image.">
            <a:extLst>
              <a:ext uri="{FF2B5EF4-FFF2-40B4-BE49-F238E27FC236}">
                <a16:creationId xmlns:a16="http://schemas.microsoft.com/office/drawing/2014/main" id="{E841E903-784F-9E3D-9925-AB8F00C6CB2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620337" y="1837944"/>
            <a:ext cx="2951326" cy="178754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2000" b="0" i="0">
                <a:solidFill>
                  <a:schemeClr val="accent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06A0B64E-C536-D797-4001-800D7DF2EEDD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4626864" y="3826898"/>
            <a:ext cx="2944368" cy="625873"/>
          </a:xfr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 dirty="0"/>
              <a:t>Click to edit column header second line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1BB454C1-EA3C-26C3-95BE-82055FE81766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4624989" y="4430183"/>
            <a:ext cx="2944368" cy="142712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column text</a:t>
            </a:r>
          </a:p>
        </p:txBody>
      </p:sp>
      <p:sp>
        <p:nvSpPr>
          <p:cNvPr id="14" name="Picture Placeholder 4" descr="Rectangle placeholder image.">
            <a:extLst>
              <a:ext uri="{FF2B5EF4-FFF2-40B4-BE49-F238E27FC236}">
                <a16:creationId xmlns:a16="http://schemas.microsoft.com/office/drawing/2014/main" id="{7C2C8846-04C4-CC56-2B6D-6AC6FA3369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497732" y="1837944"/>
            <a:ext cx="2953512" cy="178754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2000" b="0" i="0">
                <a:solidFill>
                  <a:schemeClr val="accent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5569A4A7-21E1-1126-944D-225BC00A0D2F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8513064" y="3830375"/>
            <a:ext cx="2944368" cy="616630"/>
          </a:xfr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 dirty="0"/>
              <a:t>Click to edit column header second line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96F91243-915B-BEE2-3412-B47C04337F8B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513064" y="4430183"/>
            <a:ext cx="2944368" cy="142712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column 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7897E1-3271-CD80-EB69-9C97E6A5B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34484"/>
            <a:ext cx="12192000" cy="523516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81CFCC6-EC01-9C89-3F59-A3211829B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16441" y="6428232"/>
            <a:ext cx="81012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View &gt;&gt; Header and Footer &gt;&gt; Add Unit, Office, or Department Name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E94F36-A7F4-654C-641A-3401B8612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540912" y="6442110"/>
            <a:ext cx="308264" cy="3082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97E56C-6E4E-0582-AAC4-93ACDD2D4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430692" y="6483096"/>
            <a:ext cx="528705" cy="24622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fld id="{EBC9AC92-EC09-C846-AF8D-0ACA08F55242}" type="slidenum">
              <a:rPr lang="en-US" sz="1000" smtClean="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pPr algn="ctr"/>
              <a:t>‹#›</a:t>
            </a:fld>
            <a:endParaRPr lang="en-US" sz="1000">
              <a:solidFill>
                <a:schemeClr val="bg1"/>
              </a:solidFill>
              <a:latin typeface="+mn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B06573-8867-F8C5-9A40-470436CC1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46311" y="1834468"/>
            <a:ext cx="0" cy="4096512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AC1303A-9122-18D5-B95E-68F640E9F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34697" y="1834468"/>
            <a:ext cx="0" cy="4096512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04D7A6E3-9D2B-93D9-440E-A1A313899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31520" y="6436353"/>
            <a:ext cx="1323991" cy="33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70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56" userDrawn="1">
          <p15:clr>
            <a:srgbClr val="FBAE40"/>
          </p15:clr>
        </p15:guide>
        <p15:guide id="3" pos="7224" userDrawn="1">
          <p15:clr>
            <a:srgbClr val="FBAE40"/>
          </p15:clr>
        </p15:guide>
        <p15:guide id="4" pos="3840" userDrawn="1">
          <p15:clr>
            <a:srgbClr val="FBAE40"/>
          </p15:clr>
        </p15:guide>
        <p15:guide id="7" orient="horz" pos="3840" userDrawn="1">
          <p15:clr>
            <a:srgbClr val="FBAE40"/>
          </p15:clr>
        </p15:guide>
        <p15:guide id="8" orient="horz" pos="33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Line Titl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92407-9C93-5C2D-7183-2B299030D3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520" y="548640"/>
            <a:ext cx="6272784" cy="576072"/>
          </a:xfrm>
        </p:spPr>
        <p:txBody>
          <a:bodyPr lIns="0" tIns="0" rIns="0" bIns="0" anchor="t" anchorCtr="0">
            <a:noAutofit/>
          </a:bodyPr>
          <a:lstStyle>
            <a:lvl1pPr>
              <a:defRPr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22C0FF39-C2AF-4BFD-5885-FFD5C939DCBE}"/>
              </a:ext>
            </a:extLst>
          </p:cNvPr>
          <p:cNvSpPr>
            <a:spLocks noGrp="1"/>
          </p:cNvSpPr>
          <p:nvPr>
            <p:ph type="body" sz="half" idx="35" hasCustomPrompt="1"/>
          </p:nvPr>
        </p:nvSpPr>
        <p:spPr>
          <a:xfrm>
            <a:off x="731520" y="1143000"/>
            <a:ext cx="6278880" cy="36268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RED Subhead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8E131FEB-6853-29C7-6239-A1DAC7251BC5}"/>
              </a:ext>
            </a:extLst>
          </p:cNvPr>
          <p:cNvSpPr>
            <a:spLocks noGrp="1"/>
          </p:cNvSpPr>
          <p:nvPr>
            <p:ph type="body" sz="half" idx="36" hasCustomPrompt="1"/>
          </p:nvPr>
        </p:nvSpPr>
        <p:spPr>
          <a:xfrm>
            <a:off x="731520" y="1791761"/>
            <a:ext cx="6272783" cy="3847037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latin typeface="+mn-lt"/>
              </a:rPr>
              <a:t>Intro copy to go here.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Bullet item one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Bullet item two</a:t>
            </a:r>
            <a:endParaRPr lang="en-US" dirty="0">
              <a:latin typeface="+mn-lt"/>
            </a:endParaRPr>
          </a:p>
          <a:p>
            <a:pPr lvl="2">
              <a:buClr>
                <a:schemeClr val="accent1"/>
              </a:buClr>
            </a:pPr>
            <a:r>
              <a:rPr lang="en-US" dirty="0">
                <a:latin typeface="+mn-lt"/>
              </a:rPr>
              <a:t>Sub item one</a:t>
            </a:r>
          </a:p>
          <a:p>
            <a:pPr lvl="2">
              <a:buClr>
                <a:schemeClr val="accent1"/>
              </a:buClr>
            </a:pPr>
            <a:r>
              <a:rPr lang="en-US" dirty="0">
                <a:latin typeface="+mn-lt"/>
              </a:rPr>
              <a:t>Sub item two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Bullet item three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9" name="Picture Placeholder 4" descr="Placeholder image.">
            <a:extLst>
              <a:ext uri="{FF2B5EF4-FFF2-40B4-BE49-F238E27FC236}">
                <a16:creationId xmlns:a16="http://schemas.microsoft.com/office/drawing/2014/main" id="{4308EECF-2374-22B5-DA23-FC2F284149C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18832" y="2"/>
            <a:ext cx="4773168" cy="633679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2000" b="0" i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4C9532-75AC-B604-7EB0-553854B69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34484"/>
            <a:ext cx="12192000" cy="523516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F30EAC4C-58B3-50B8-F25E-D9952DA17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16441" y="6428232"/>
            <a:ext cx="81012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View &gt;&gt; Header and Footer &gt;&gt; Add Unit, Office, or Department Name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683464D-B560-8DF3-132D-5435269E9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540912" y="6442110"/>
            <a:ext cx="308264" cy="3082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A602BC-E0A1-7B0A-D50F-FA9FF1ABF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430692" y="6483096"/>
            <a:ext cx="528705" cy="24622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fld id="{EBC9AC92-EC09-C846-AF8D-0ACA08F55242}" type="slidenum">
              <a:rPr lang="en-US" sz="1000" smtClean="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pPr algn="ctr"/>
              <a:t>‹#›</a:t>
            </a:fld>
            <a:endParaRPr lang="en-US" sz="1000" dirty="0">
              <a:solidFill>
                <a:schemeClr val="bg1"/>
              </a:solidFill>
              <a:latin typeface="+mn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B8021F-2D96-45FA-B505-46EE450B4C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31520" y="6436353"/>
            <a:ext cx="1323991" cy="33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500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0" userDrawn="1">
          <p15:clr>
            <a:srgbClr val="FBAE40"/>
          </p15:clr>
        </p15:guide>
        <p15:guide id="3" pos="456" userDrawn="1">
          <p15:clr>
            <a:srgbClr val="FBAE40"/>
          </p15:clr>
        </p15:guide>
        <p15:guide id="4" orient="horz" pos="912" userDrawn="1">
          <p15:clr>
            <a:srgbClr val="FBAE40"/>
          </p15:clr>
        </p15:guide>
        <p15:guide id="6" orient="horz" pos="336" userDrawn="1">
          <p15:clr>
            <a:srgbClr val="FBAE40"/>
          </p15:clr>
        </p15:guide>
        <p15:guide id="8" pos="441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tgers logo only">
    <p:bg>
      <p:bgPr>
        <a:solidFill>
          <a:srgbClr val="CC0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 descr="Placeholder image.">
            <a:extLst>
              <a:ext uri="{FF2B5EF4-FFF2-40B4-BE49-F238E27FC236}">
                <a16:creationId xmlns:a16="http://schemas.microsoft.com/office/drawing/2014/main" id="{04AA3D56-45C1-6912-44AC-11D9260AD6F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872740" y="2606040"/>
            <a:ext cx="6446520" cy="164592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30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D47C82-65E8-6F4A-93F5-B60D5D90F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627" y="365126"/>
            <a:ext cx="10768173" cy="89611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0A12C-E82E-3F40-8F2F-F914F24F0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5627" y="1825625"/>
            <a:ext cx="10768173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B747C4-6C3D-7CB4-12B7-BFA60319A4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View &gt;&gt; Header and Footer &gt;&gt; Add Unit, Office, or Department Name</a:t>
            </a:r>
          </a:p>
        </p:txBody>
      </p:sp>
    </p:spTree>
    <p:extLst>
      <p:ext uri="{BB962C8B-B14F-4D97-AF65-F5344CB8AC3E}">
        <p14:creationId xmlns:p14="http://schemas.microsoft.com/office/powerpoint/2010/main" val="2970061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701" r:id="rId3"/>
    <p:sldLayoutId id="2147483650" r:id="rId4"/>
    <p:sldLayoutId id="2147483706" r:id="rId5"/>
    <p:sldLayoutId id="2147483670" r:id="rId6"/>
    <p:sldLayoutId id="2147483715" r:id="rId7"/>
    <p:sldLayoutId id="2147483654" r:id="rId8"/>
    <p:sldLayoutId id="2147483691" r:id="rId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Roboto" panose="02000000000000000000" pitchFamily="2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Roboto" panose="02000000000000000000" pitchFamily="2" charset="0"/>
        <a:buChar char="–"/>
        <a:defRPr sz="200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‒"/>
        <a:defRPr sz="160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8362C-23FF-5508-8F50-64EA812AB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0000" y="2777047"/>
            <a:ext cx="11192000" cy="1843238"/>
          </a:xfrm>
        </p:spPr>
        <p:txBody>
          <a:bodyPr>
            <a:normAutofit/>
          </a:bodyPr>
          <a:lstStyle/>
          <a:p>
            <a:r>
              <a:rPr lang="en-US" sz="4800" dirty="0">
                <a:ea typeface="Source Sans Pro" panose="020F0502020204030204" pitchFamily="34" charset="0"/>
              </a:rPr>
              <a:t>Multilingual Sociocultural Bias</a:t>
            </a:r>
            <a:br>
              <a:rPr lang="en-US" sz="4800" dirty="0"/>
            </a:br>
            <a:r>
              <a:rPr lang="en-US" sz="4800" dirty="0"/>
              <a:t>in AI Children’s Storytelling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E7791-27A9-08D9-298D-93C9599EB8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Pradhyumna Kiledar • Pavan Sai Komara • Shouvik Seth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90FCF9-7B2A-0E86-4853-9337F1A555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April 2026</a:t>
            </a:r>
          </a:p>
        </p:txBody>
      </p:sp>
      <p:pic>
        <p:nvPicPr>
          <p:cNvPr id="7" name="Picture Placeholder 6" descr="A black background with white text  AI-generated content may be incorrect.">
            <a:extLst>
              <a:ext uri="{FF2B5EF4-FFF2-40B4-BE49-F238E27FC236}">
                <a16:creationId xmlns:a16="http://schemas.microsoft.com/office/drawing/2014/main" id="{BAED0FE1-0676-926A-8975-72F1C43C108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57" r="5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982126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F9F9F-1DF2-481E-8B5B-DEAC6661E8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00" y="2805221"/>
            <a:ext cx="10286999" cy="759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1.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141A94-9121-462D-B5D0-AC29C1E77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00" y="3791876"/>
            <a:ext cx="10286999" cy="407460"/>
          </a:xfrm>
        </p:spPr>
        <p:txBody>
          <a:bodyPr/>
          <a:lstStyle/>
          <a:p>
            <a:r>
              <a:rPr lang="en-US" dirty="0"/>
              <a:t>Motivation, problem, and research questions</a:t>
            </a:r>
          </a:p>
        </p:txBody>
      </p:sp>
    </p:spTree>
    <p:extLst>
      <p:ext uri="{BB962C8B-B14F-4D97-AF65-F5344CB8AC3E}">
        <p14:creationId xmlns:p14="http://schemas.microsoft.com/office/powerpoint/2010/main" val="3854190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9A999-D46A-DE68-8B04-97E521189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Introduction: The Illusion of Neutral Narrators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D5D55-F2C5-5D0B-9CC2-9A4D41632D55}"/>
              </a:ext>
            </a:extLst>
          </p:cNvPr>
          <p:cNvSpPr>
            <a:spLocks noGrp="1"/>
          </p:cNvSpPr>
          <p:nvPr>
            <p:ph type="body" sz="half" idx="34"/>
          </p:nvPr>
        </p:nvSpPr>
        <p:spPr/>
        <p:txBody>
          <a:bodyPr>
            <a:normAutofit/>
          </a:bodyPr>
          <a:lstStyle/>
          <a:p>
            <a:r>
              <a:rPr lang="en-US" dirty="0"/>
              <a:t>A NEUTRAL CREATIVE PARTNER?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35E109-F693-6C38-848A-3EEBB05ED48D}"/>
              </a:ext>
            </a:extLst>
          </p:cNvPr>
          <p:cNvSpPr>
            <a:spLocks noGrp="1"/>
          </p:cNvSpPr>
          <p:nvPr>
            <p:ph type="body" sz="half" idx="36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The Problem of Personalized Storytelling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16C1676-4695-2653-47C9-B65A979B6375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Stories shape children’s identity. </a:t>
            </a:r>
            <a:r>
              <a:rPr lang="en-US" dirty="0"/>
              <a:t>Parents increasingly turn to LLMs to generate personalized bedtime stories, expecting a neutral creative partner.</a:t>
            </a:r>
          </a:p>
          <a:p>
            <a:r>
              <a:rPr lang="en-US" dirty="0"/>
              <a:t>Prior work (Rooein et al., EMNLP 2025) shows that English LLMs systematically reinforce gender and cultural stereotypes — a 55.26% increase in appearance descriptors for daughters vs. sons, geographic stereotyping by nationality, and homogenized portrayals of non-Western children.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EA96616-1981-757D-A905-79DD7A0A006F}"/>
              </a:ext>
            </a:extLst>
          </p:cNvPr>
          <p:cNvSpPr>
            <a:spLocks noGrp="1"/>
          </p:cNvSpPr>
          <p:nvPr>
            <p:ph type="body" sz="half" idx="38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The Multilingual Blindspot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0C7F2F6-6F82-5726-D83F-7CE5480898CE}"/>
              </a:ext>
            </a:extLst>
          </p:cNvPr>
          <p:cNvSpPr>
            <a:spLocks noGrp="1"/>
          </p:cNvSpPr>
          <p:nvPr>
            <p:ph type="body" sz="half" idx="39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The multilingual blindspot. </a:t>
            </a:r>
            <a:r>
              <a:rPr lang="en-US" dirty="0"/>
              <a:t>Existing bias studies are almost exclusively English-centric. Whether these patterns reproduce, weaken, or transform in other major world languages remains an open question.</a:t>
            </a:r>
          </a:p>
          <a:p>
            <a:r>
              <a:rPr lang="en-US" b="1" dirty="0"/>
              <a:t>We ask: </a:t>
            </a:r>
            <a:r>
              <a:rPr lang="en-US" dirty="0"/>
              <a:t>Does the same model, prompted in two languages, produce the same bias profile? We extend Biased Tales to a controlled English-vs-Hindi comparison, with Hindi as the world’s third-most-spoken language and a culturally distant target.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6A76BD-0E5B-EFE5-951F-F34825D36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Rutgers University  |  Computer Science Graduate Program</a:t>
            </a:r>
          </a:p>
        </p:txBody>
      </p:sp>
    </p:spTree>
    <p:extLst>
      <p:ext uri="{BB962C8B-B14F-4D97-AF65-F5344CB8AC3E}">
        <p14:creationId xmlns:p14="http://schemas.microsoft.com/office/powerpoint/2010/main" val="2500300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9A999-D46A-DE68-8B04-97E521189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Statement &amp; Research Questions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D5D55-F2C5-5D0B-9CC2-9A4D41632D55}"/>
              </a:ext>
            </a:extLst>
          </p:cNvPr>
          <p:cNvSpPr>
            <a:spLocks noGrp="1"/>
          </p:cNvSpPr>
          <p:nvPr>
            <p:ph type="body" sz="half" idx="34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GAP IN MULTILINGUAL BIAS EVALUATION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35E109-F693-6C38-848A-3EEBB05ED48D}"/>
              </a:ext>
            </a:extLst>
          </p:cNvPr>
          <p:cNvSpPr>
            <a:spLocks noGrp="1"/>
          </p:cNvSpPr>
          <p:nvPr>
            <p:ph type="body" sz="half" idx="36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Two Open Questions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16C1676-4695-2653-47C9-B65A979B6375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 gender, ethnic, and religious biases manifest in Hindi narratives compared with English, given that the same instruction-tuned LLM generates both?</a:t>
            </a:r>
          </a:p>
          <a:p>
            <a:r>
              <a:rPr lang="en-US" b="1" dirty="0"/>
              <a:t>Does alignment training (RLHF + safety tuning) successfully mitigate biases uniformly across linguistic contexts, or does its effect vary by language?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EA96616-1981-757D-A905-79DD7A0A006F}"/>
              </a:ext>
            </a:extLst>
          </p:cNvPr>
          <p:cNvSpPr>
            <a:spLocks noGrp="1"/>
          </p:cNvSpPr>
          <p:nvPr>
            <p:ph type="body" sz="half" idx="38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Four Research Questions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0C7F2F6-6F82-5726-D83F-7CE5480898CE}"/>
              </a:ext>
            </a:extLst>
          </p:cNvPr>
          <p:cNvSpPr>
            <a:spLocks noGrp="1"/>
          </p:cNvSpPr>
          <p:nvPr>
            <p:ph type="body" sz="half" idx="39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RQ1: </a:t>
            </a:r>
            <a:r>
              <a:rPr lang="en-US" dirty="0"/>
              <a:t>Do appearance-for-girls and agency-for-boys patterns reproduce in Hindi?</a:t>
            </a:r>
          </a:p>
          <a:p>
            <a:r>
              <a:rPr lang="en-US" b="1" dirty="0"/>
              <a:t>RQ2: </a:t>
            </a:r>
            <a:r>
              <a:rPr lang="en-US" dirty="0"/>
              <a:t>Do geographic/cultural stereotypes (e.g., desert for Middle-Eastern, mountains for Tibet) reproduce in either language?</a:t>
            </a:r>
          </a:p>
          <a:p>
            <a:r>
              <a:rPr lang="en-US" b="1" dirty="0"/>
              <a:t>RQ3: </a:t>
            </a:r>
            <a:r>
              <a:rPr lang="en-US" dirty="0"/>
              <a:t>Which demographic axes are most strongly encoded in each language’s narratives?</a:t>
            </a:r>
          </a:p>
          <a:p>
            <a:r>
              <a:rPr lang="en-US" b="1" dirty="0"/>
              <a:t>RQ4: </a:t>
            </a:r>
            <a:r>
              <a:rPr lang="en-US" dirty="0"/>
              <a:t>Are the generated stories age-appropriate (readability, toxicity)?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6A76BD-0E5B-EFE5-951F-F34825D36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Rutgers University  |  Computer Science Graduate Program</a:t>
            </a:r>
          </a:p>
        </p:txBody>
      </p:sp>
    </p:spTree>
    <p:extLst>
      <p:ext uri="{BB962C8B-B14F-4D97-AF65-F5344CB8AC3E}">
        <p14:creationId xmlns:p14="http://schemas.microsoft.com/office/powerpoint/2010/main" val="2500300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F9F9F-1DF2-481E-8B5B-DEAC6661E8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00" y="2805221"/>
            <a:ext cx="10286999" cy="759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2. Related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141A94-9121-462D-B5D0-AC29C1E77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00" y="3791876"/>
            <a:ext cx="10286999" cy="407460"/>
          </a:xfrm>
        </p:spPr>
        <p:txBody>
          <a:bodyPr>
            <a:normAutofit/>
          </a:bodyPr>
          <a:lstStyle/>
          <a:p>
            <a:r>
              <a:rPr lang="en-US" dirty="0"/>
              <a:t>Foundations: bias frameworks, alignment, multilingual LLMs</a:t>
            </a:r>
          </a:p>
        </p:txBody>
      </p:sp>
    </p:spTree>
    <p:extLst>
      <p:ext uri="{BB962C8B-B14F-4D97-AF65-F5344CB8AC3E}">
        <p14:creationId xmlns:p14="http://schemas.microsoft.com/office/powerpoint/2010/main" val="3854190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D9A9D-068D-CF2A-574D-97CBC24D5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Three Strands of Prior Work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E42F1-33F9-F41C-BFAC-54ADDB76FC0F}"/>
              </a:ext>
            </a:extLst>
          </p:cNvPr>
          <p:cNvSpPr>
            <a:spLocks noGrp="1"/>
          </p:cNvSpPr>
          <p:nvPr>
            <p:ph type="body" sz="half" idx="34"/>
          </p:nvPr>
        </p:nvSpPr>
        <p:spPr/>
        <p:txBody>
          <a:bodyPr>
            <a:normAutofit/>
          </a:bodyPr>
          <a:lstStyle/>
          <a:p>
            <a:r>
              <a:rPr lang="en-US" dirty="0"/>
              <a:t>FROM ENGLISH-CENTRIC BIAS TO MULTILINGUAL EVALUATION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5C03D56-72EB-4232-0B72-860CB2795F8E}"/>
              </a:ext>
            </a:extLst>
          </p:cNvPr>
          <p:cNvSpPr>
            <a:spLocks noGrp="1"/>
          </p:cNvSpPr>
          <p:nvPr>
            <p:ph type="body" sz="half" idx="36"/>
          </p:nvPr>
        </p:nvSpPr>
        <p:spPr>
          <a:xfrm>
            <a:off x="731521" y="1828801"/>
            <a:ext cx="2951326" cy="733925"/>
          </a:xfrm>
        </p:spPr>
        <p:txBody>
          <a:bodyPr>
            <a:normAutofit/>
          </a:bodyPr>
          <a:lstStyle/>
          <a:p>
            <a:r>
              <a:rPr lang="en-US" sz="1800" b="1" dirty="0"/>
              <a:t>2.1 Sociocultural Bias</a:t>
            </a:r>
            <a:r>
              <a:rPr lang="en-US" sz="1800" dirty="0"/>
              <a:t> </a:t>
            </a:r>
            <a:r>
              <a:rPr lang="en-US" sz="1800" b="1" dirty="0"/>
              <a:t>in Narrative Generation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4B179D-08B5-BF5A-4946-43C589314938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731520" y="2562726"/>
            <a:ext cx="2944368" cy="3294584"/>
          </a:xfrm>
        </p:spPr>
        <p:txBody>
          <a:bodyPr>
            <a:normAutofit/>
          </a:bodyPr>
          <a:lstStyle/>
          <a:p>
            <a:r>
              <a:rPr lang="en-US" dirty="0"/>
              <a:t>Biased Tales (Rooein et al., EMNLP 2025) introduced a structured framework for character-centric and context-centric bias measurement in 5,531 English bedtime stories. They found systematic gender and cultural patterns. </a:t>
            </a:r>
            <a:r>
              <a:rPr lang="en-US" i="1" dirty="0"/>
              <a:t>Their study is English-only and lists multilingual evaluation as future work.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2E39A1-6223-2D31-FE29-6C4FE8A50E0D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626864" y="1828802"/>
            <a:ext cx="2944368" cy="733924"/>
          </a:xfrm>
        </p:spPr>
        <p:txBody>
          <a:bodyPr>
            <a:normAutofit/>
          </a:bodyPr>
          <a:lstStyle/>
          <a:p>
            <a:r>
              <a:rPr lang="en-US" sz="1800" b="1" dirty="0"/>
              <a:t>2.2 Alignment &amp; RLHF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22A64E-2AF9-C6BE-6BE5-133E29796622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624989" y="2562725"/>
            <a:ext cx="2944368" cy="3294586"/>
          </a:xfrm>
        </p:spPr>
        <p:txBody>
          <a:bodyPr>
            <a:normAutofit/>
          </a:bodyPr>
          <a:lstStyle/>
          <a:p>
            <a:r>
              <a:rPr lang="en-US" dirty="0"/>
              <a:t>RLHF and safety tuning aim to mitigate harmful outputs and align models with social norms. Prior studies focus on toxicity and instruction-following in English. </a:t>
            </a:r>
            <a:r>
              <a:rPr lang="en-US" i="1" dirty="0"/>
              <a:t>The effect of alignment on multilingual sociocultural representation in creative generation is largely unexamined.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EC06A7-C6D3-9838-1D90-65F638F7990F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513064" y="1828801"/>
            <a:ext cx="2944368" cy="733924"/>
          </a:xfrm>
        </p:spPr>
        <p:txBody>
          <a:bodyPr>
            <a:normAutofit/>
          </a:bodyPr>
          <a:lstStyle/>
          <a:p>
            <a:r>
              <a:rPr lang="en-US" sz="1800" b="1" dirty="0"/>
              <a:t>2.3 Multilingual Bias</a:t>
            </a:r>
            <a:r>
              <a:rPr lang="en-US" sz="1800" dirty="0"/>
              <a:t> </a:t>
            </a:r>
            <a:r>
              <a:rPr lang="en-US" sz="1800" b="1" dirty="0"/>
              <a:t>in LLMs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3C4E8-5CBD-591F-035D-66446E6B07BE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8513064" y="2562725"/>
            <a:ext cx="2944368" cy="3294586"/>
          </a:xfrm>
        </p:spPr>
        <p:txBody>
          <a:bodyPr>
            <a:normAutofit/>
          </a:bodyPr>
          <a:lstStyle/>
          <a:p>
            <a:r>
              <a:rPr lang="en-US" dirty="0"/>
              <a:t>Recent work (Gupta et al. 2025, Kaneko et al. 2022, Myung et al. 2024) suggests bias patterns differ across languages due to training-data imbalance and cultural priors. </a:t>
            </a:r>
            <a:r>
              <a:rPr lang="en-US" i="1" dirty="0"/>
              <a:t>Systematic multilingual evaluation of narrative bias remains limited — the gap our work targets.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D94CF96-7649-8669-0614-CBDD3B04F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Rutgers University  |  Computer Science Graduate Program</a:t>
            </a:r>
          </a:p>
        </p:txBody>
      </p:sp>
    </p:spTree>
    <p:extLst>
      <p:ext uri="{BB962C8B-B14F-4D97-AF65-F5344CB8AC3E}">
        <p14:creationId xmlns:p14="http://schemas.microsoft.com/office/powerpoint/2010/main" val="4186245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F9F9F-1DF2-481E-8B5B-DEAC6661E8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00" y="2805221"/>
            <a:ext cx="10286999" cy="759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3. Experimental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141A94-9121-462D-B5D0-AC29C1E77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00" y="3791876"/>
            <a:ext cx="10286999" cy="407460"/>
          </a:xfrm>
        </p:spPr>
        <p:txBody>
          <a:bodyPr>
            <a:normAutofit/>
          </a:bodyPr>
          <a:lstStyle/>
          <a:p>
            <a:r>
              <a:rPr lang="en-US" dirty="0"/>
              <a:t>Models, prompts, and the bilingual story corpus</a:t>
            </a:r>
          </a:p>
        </p:txBody>
      </p:sp>
    </p:spTree>
    <p:extLst>
      <p:ext uri="{BB962C8B-B14F-4D97-AF65-F5344CB8AC3E}">
        <p14:creationId xmlns:p14="http://schemas.microsoft.com/office/powerpoint/2010/main" val="3854190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9A999-D46A-DE68-8B04-97E521189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3.1 Model Comparison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D5D55-F2C5-5D0B-9CC2-9A4D41632D55}"/>
              </a:ext>
            </a:extLst>
          </p:cNvPr>
          <p:cNvSpPr>
            <a:spLocks noGrp="1"/>
          </p:cNvSpPr>
          <p:nvPr>
            <p:ph type="body" sz="half" idx="34"/>
          </p:nvPr>
        </p:nvSpPr>
        <p:spPr/>
        <p:txBody>
          <a:bodyPr>
            <a:normAutofit/>
          </a:bodyPr>
          <a:lstStyle/>
          <a:p>
            <a:r>
              <a:rPr lang="en-US" dirty="0"/>
              <a:t>FROM RLHF VS BASE → SINGLE-MODEL CROSS-LINGUAL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35E109-F693-6C38-848A-3EEBB05ED48D}"/>
              </a:ext>
            </a:extLst>
          </p:cNvPr>
          <p:cNvSpPr>
            <a:spLocks noGrp="1"/>
          </p:cNvSpPr>
          <p:nvPr>
            <p:ph type="body" sz="half" idx="36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Proposed Comparison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16C1676-4695-2653-47C9-B65A979B6375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Original plan: </a:t>
            </a:r>
            <a:r>
              <a:rPr lang="en-US" dirty="0"/>
              <a:t>compare a base pretrained model against an RLHF-aligned model in the same family to isolate the effect of alignment on multilingual sociocultural bias.</a:t>
            </a:r>
          </a:p>
          <a:p>
            <a:r>
              <a:rPr lang="en-US" dirty="0"/>
              <a:t>This would let us test whether alignment uniformly mitigates bias, or amplifies/reshapes it differently across languages.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EA96616-1981-757D-A905-79DD7A0A006F}"/>
              </a:ext>
            </a:extLst>
          </p:cNvPr>
          <p:cNvSpPr>
            <a:spLocks noGrp="1"/>
          </p:cNvSpPr>
          <p:nvPr>
            <p:ph type="body" sz="half" idx="38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Adopted Setup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0C7F2F6-6F82-5726-D83F-7CE5480898CE}"/>
              </a:ext>
            </a:extLst>
          </p:cNvPr>
          <p:cNvSpPr>
            <a:spLocks noGrp="1"/>
          </p:cNvSpPr>
          <p:nvPr>
            <p:ph type="body" sz="half" idx="39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Multilingual reality: </a:t>
            </a:r>
            <a:r>
              <a:rPr lang="en-US" dirty="0"/>
              <a:t>all modern OpenAI models with adequate Hindi capacity (GPT-4o, GPT-4o-mini) are inherently RLHF-aligned. An unaligned baseline test cannot be reliably conducted for Hindi.</a:t>
            </a:r>
          </a:p>
          <a:p>
            <a:r>
              <a:rPr lang="en-US" b="1" dirty="0"/>
              <a:t>Adopted setup: </a:t>
            </a:r>
            <a:r>
              <a:rPr lang="en-US" dirty="0"/>
              <a:t>a single aligned model (GPT-4o-mini) prompted in both English and Hindi with identical prompts, parameters, and decoding — isolating language as the experimental variable.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6A76BD-0E5B-EFE5-951F-F34825D36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Rutgers University  |  Computer Science Graduate Program</a:t>
            </a:r>
          </a:p>
        </p:txBody>
      </p:sp>
    </p:spTree>
    <p:extLst>
      <p:ext uri="{BB962C8B-B14F-4D97-AF65-F5344CB8AC3E}">
        <p14:creationId xmlns:p14="http://schemas.microsoft.com/office/powerpoint/2010/main" val="2500300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946A-D68D-433D-B07E-871CAF1B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3.2 Multilingual Prompt Framework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FAAE6-6D19-E831-463D-6019A96EEF0D}"/>
              </a:ext>
            </a:extLst>
          </p:cNvPr>
          <p:cNvSpPr>
            <a:spLocks noGrp="1"/>
          </p:cNvSpPr>
          <p:nvPr>
            <p:ph type="body" sz="half" idx="34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PROGRAMMATIC EXPANSION OF DEMOGRAPHIC PROMPTS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52AD82-04B5-FC23-C104-2619F26E482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We adopt controlled demographic prompt templates inspired by Biased Tales, varying along four sociocultural axes: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Demographic axes (English + Hindi parallel):</a:t>
            </a:r>
          </a:p>
          <a:p>
            <a:pPr lvl="2"/>
            <a:r>
              <a:rPr lang="en-US" b="1" dirty="0"/>
              <a:t>Child gender: </a:t>
            </a:r>
            <a:r>
              <a:rPr lang="en-US" dirty="0"/>
              <a:t>daughter, son, child</a:t>
            </a:r>
          </a:p>
          <a:p>
            <a:pPr lvl="2"/>
            <a:r>
              <a:rPr lang="en-US" b="1" dirty="0"/>
              <a:t>Parent role: </a:t>
            </a:r>
            <a:r>
              <a:rPr lang="en-US" dirty="0"/>
              <a:t>father, mother</a:t>
            </a:r>
          </a:p>
          <a:p>
            <a:pPr lvl="2"/>
            <a:r>
              <a:rPr lang="en-US" b="1" dirty="0"/>
              <a:t>Religion (10): </a:t>
            </a:r>
            <a:r>
              <a:rPr lang="en-US" dirty="0"/>
              <a:t>Hindu, Muslim, Sikh, Christian, Buddhist, Jain, Parsi, Jewish, Atheist, Tribal</a:t>
            </a:r>
          </a:p>
          <a:p>
            <a:pPr lvl="2"/>
            <a:r>
              <a:rPr lang="en-US" b="1" dirty="0"/>
              <a:t>Ethnicity (40): </a:t>
            </a:r>
            <a:r>
              <a:rPr lang="en-US" dirty="0"/>
              <a:t>Punjabi, Tamil, Bengali, Marathi, Gujarati, Rajasthani, Kashmiri, ...</a:t>
            </a:r>
          </a:p>
          <a:p>
            <a:pPr lvl="2"/>
            <a:r>
              <a:rPr lang="en-US" b="1" dirty="0"/>
              <a:t>Nationality (36): </a:t>
            </a:r>
            <a:r>
              <a:rPr lang="en-US" dirty="0"/>
              <a:t>India, Pakistan, USA, UK, China, Japan, Saudi Arabia, Tibet, Kenya, Brazil, ...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Translation integrity protocol:</a:t>
            </a:r>
          </a:p>
          <a:p>
            <a:pPr lvl="2"/>
            <a:r>
              <a:rPr lang="en-US" dirty="0"/>
              <a:t>Fixed glossary for demographic labels (पिता / माँ, बेटा / बेटी)</a:t>
            </a:r>
          </a:p>
          <a:p>
            <a:pPr lvl="2"/>
            <a:r>
              <a:rPr lang="en-US" dirty="0"/>
              <a:t>Hindi-specific grammar rules (मेरी बेटी vs. मेरे बेटे)</a:t>
            </a:r>
          </a:p>
          <a:p>
            <a:pPr lvl="2"/>
            <a:r>
              <a:rPr lang="en-US" dirty="0"/>
              <a:t>Round-trip back-translation verification of meaning preservation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/>
              <a:t>522 unique prompts × 2 languages = 1,044 bilingual instructions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072DE-E7F1-E59D-BDB1-8A59BDAF34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Rutgers University  |  Computer Science Graduate Program</a:t>
            </a:r>
          </a:p>
        </p:txBody>
      </p:sp>
    </p:spTree>
    <p:extLst>
      <p:ext uri="{BB962C8B-B14F-4D97-AF65-F5344CB8AC3E}">
        <p14:creationId xmlns:p14="http://schemas.microsoft.com/office/powerpoint/2010/main" val="1764192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D9A9D-068D-CF2A-574D-97CBC24D5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3.3 Dataset Generation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E42F1-33F9-F41C-BFAC-54ADDB76FC0F}"/>
              </a:ext>
            </a:extLst>
          </p:cNvPr>
          <p:cNvSpPr>
            <a:spLocks noGrp="1"/>
          </p:cNvSpPr>
          <p:nvPr>
            <p:ph type="body" sz="half" idx="34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BILINGUAL CORPUS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5C03D56-72EB-4232-0B72-860CB2795F8E}"/>
              </a:ext>
            </a:extLst>
          </p:cNvPr>
          <p:cNvSpPr>
            <a:spLocks noGrp="1"/>
          </p:cNvSpPr>
          <p:nvPr>
            <p:ph type="body" sz="half" idx="36"/>
          </p:nvPr>
        </p:nvSpPr>
        <p:spPr>
          <a:xfrm>
            <a:off x="755362" y="1780674"/>
            <a:ext cx="2951326" cy="647142"/>
          </a:xfrm>
        </p:spPr>
        <p:txBody>
          <a:bodyPr>
            <a:normAutofit/>
          </a:bodyPr>
          <a:lstStyle/>
          <a:p>
            <a:r>
              <a:rPr lang="en-US" sz="1800" b="1" dirty="0"/>
              <a:t>Generation Parameters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4B179D-08B5-BF5A-4946-43C589314938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731520" y="2650333"/>
            <a:ext cx="2944368" cy="320697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rPr lang="en-US" b="1" dirty="0"/>
              <a:t>Model: </a:t>
            </a:r>
            <a:r>
              <a:rPr lang="en-US" dirty="0"/>
              <a:t>OpenAI GPT-4o-mini</a:t>
            </a:r>
          </a:p>
          <a:p>
            <a:pPr lvl="0">
              <a:buNone/>
            </a:pPr>
            <a:r>
              <a:rPr lang="en-US" b="1" dirty="0"/>
              <a:t>Temperature: </a:t>
            </a:r>
            <a:r>
              <a:rPr lang="en-US" dirty="0"/>
              <a:t>1.0</a:t>
            </a:r>
          </a:p>
          <a:p>
            <a:pPr lvl="0">
              <a:buNone/>
            </a:pPr>
            <a:r>
              <a:rPr lang="en-US" b="1" dirty="0"/>
              <a:t>Top-p: </a:t>
            </a:r>
            <a:r>
              <a:rPr lang="en-US" dirty="0"/>
              <a:t>0.9</a:t>
            </a:r>
          </a:p>
          <a:p>
            <a:pPr lvl="0">
              <a:buNone/>
            </a:pPr>
            <a:r>
              <a:rPr lang="en-US" b="1" dirty="0"/>
              <a:t>Max tokens: </a:t>
            </a:r>
            <a:r>
              <a:rPr lang="en-US" dirty="0"/>
              <a:t>1,024</a:t>
            </a:r>
          </a:p>
          <a:p>
            <a:pPr lvl="0">
              <a:buNone/>
            </a:pPr>
            <a:r>
              <a:rPr lang="en-US" b="1" dirty="0"/>
              <a:t>Stories per prompt: </a:t>
            </a:r>
            <a:r>
              <a:rPr lang="en-US" dirty="0"/>
              <a:t>3</a:t>
            </a:r>
          </a:p>
          <a:p>
            <a:pPr lvl="0">
              <a:buNone/>
            </a:pPr>
            <a:r>
              <a:rPr lang="en-US" b="1" dirty="0"/>
              <a:t>Target length: </a:t>
            </a:r>
            <a:r>
              <a:rPr lang="en-US" dirty="0"/>
              <a:t>220–320 words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2E39A1-6223-2D31-FE29-6C4FE8A50E0D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626864" y="1780674"/>
            <a:ext cx="2944368" cy="647143"/>
          </a:xfrm>
        </p:spPr>
        <p:txBody>
          <a:bodyPr>
            <a:normAutofit/>
          </a:bodyPr>
          <a:lstStyle/>
          <a:p>
            <a:r>
              <a:rPr lang="en-US" sz="1800" b="1" dirty="0"/>
              <a:t>Prompt Composition</a:t>
            </a:r>
            <a:r>
              <a:rPr lang="en-US" sz="1800" dirty="0"/>
              <a:t> </a:t>
            </a:r>
            <a:r>
              <a:rPr lang="en-US" sz="1800" b="1" dirty="0"/>
              <a:t>(522 templates)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22A64E-2AF9-C6BE-6BE5-133E29796622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624989" y="2650335"/>
            <a:ext cx="2944368" cy="320697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Role + Gender (6)</a:t>
            </a:r>
          </a:p>
          <a:p>
            <a:pPr>
              <a:buNone/>
            </a:pPr>
            <a:r>
              <a:rPr lang="en-US" dirty="0"/>
              <a:t>Religion + Role + Gender (60)</a:t>
            </a:r>
          </a:p>
          <a:p>
            <a:pPr>
              <a:buNone/>
            </a:pPr>
            <a:r>
              <a:rPr lang="en-US" dirty="0"/>
              <a:t>Ethnicity + Role + Gender (240)</a:t>
            </a:r>
          </a:p>
          <a:p>
            <a:pPr>
              <a:buNone/>
            </a:pPr>
            <a:r>
              <a:rPr lang="en-US" dirty="0"/>
              <a:t>Nationality + Role + Gender (216)</a:t>
            </a:r>
          </a:p>
          <a:p>
            <a:pPr>
              <a:buNone/>
            </a:pPr>
            <a:r>
              <a:rPr lang="en-US" b="1" dirty="0"/>
              <a:t>System prompt: </a:t>
            </a:r>
            <a:r>
              <a:rPr lang="en-US" dirty="0"/>
              <a:t>language-only constraint, clear beginning/middle/end, moral lesson, goodnight close.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EC06A7-C6D3-9838-1D90-65F638F7990F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513064" y="1814371"/>
            <a:ext cx="2944368" cy="637586"/>
          </a:xfrm>
        </p:spPr>
        <p:txBody>
          <a:bodyPr>
            <a:normAutofit/>
          </a:bodyPr>
          <a:lstStyle/>
          <a:p>
            <a:r>
              <a:rPr lang="en-US" sz="1800" b="1" dirty="0"/>
              <a:t>Final Corpus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3C4E8-5CBD-591F-035D-66446E6B07BE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8513064" y="2650335"/>
            <a:ext cx="2944368" cy="320697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CC0033"/>
                </a:solidFill>
              </a:rPr>
              <a:t>1,566</a:t>
            </a:r>
            <a:r>
              <a:rPr lang="en-US" dirty="0"/>
              <a:t> English stories</a:t>
            </a:r>
          </a:p>
          <a:p>
            <a:pPr>
              <a:buNone/>
            </a:pPr>
            <a:r>
              <a:rPr lang="en-US" b="1" dirty="0">
                <a:solidFill>
                  <a:srgbClr val="CC0033"/>
                </a:solidFill>
              </a:rPr>
              <a:t>1,566</a:t>
            </a:r>
            <a:r>
              <a:rPr lang="en-US" dirty="0"/>
              <a:t> Hindi stories</a:t>
            </a:r>
          </a:p>
          <a:p>
            <a:pPr>
              <a:buNone/>
            </a:pPr>
            <a:r>
              <a:rPr lang="en-US" b="1" dirty="0">
                <a:solidFill>
                  <a:srgbClr val="CC0033"/>
                </a:solidFill>
              </a:rPr>
              <a:t>3,132</a:t>
            </a:r>
            <a:r>
              <a:rPr lang="en-US" dirty="0"/>
              <a:t> total parallel narratives</a:t>
            </a:r>
          </a:p>
          <a:p>
            <a:pPr>
              <a:buNone/>
            </a:pPr>
            <a:r>
              <a:rPr lang="en-US" i="1" dirty="0"/>
              <a:t>Identical prompts across both languages preserve cross-lingual comparability — language is the only experimental axis.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D94CF96-7649-8669-0614-CBDD3B04F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Rutgers University  |  Computer Science Graduate Program</a:t>
            </a:r>
          </a:p>
        </p:txBody>
      </p:sp>
    </p:spTree>
    <p:extLst>
      <p:ext uri="{BB962C8B-B14F-4D97-AF65-F5344CB8AC3E}">
        <p14:creationId xmlns:p14="http://schemas.microsoft.com/office/powerpoint/2010/main" val="4186245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F9F9F-1DF2-481E-8B5B-DEAC6661E8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00" y="2805221"/>
            <a:ext cx="10286999" cy="75990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4. Bias Measurement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141A94-9121-462D-B5D0-AC29C1E77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00" y="3791876"/>
            <a:ext cx="10286999" cy="407460"/>
          </a:xfrm>
        </p:spPr>
        <p:txBody>
          <a:bodyPr>
            <a:normAutofit/>
          </a:bodyPr>
          <a:lstStyle/>
          <a:p>
            <a:r>
              <a:rPr lang="en-US" dirty="0"/>
              <a:t>Character, context, predictability, and multilingual evaluation</a:t>
            </a:r>
          </a:p>
        </p:txBody>
      </p:sp>
    </p:spTree>
    <p:extLst>
      <p:ext uri="{BB962C8B-B14F-4D97-AF65-F5344CB8AC3E}">
        <p14:creationId xmlns:p14="http://schemas.microsoft.com/office/powerpoint/2010/main" val="3854190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9A999-D46A-DE68-8B04-97E521189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4.1 + 4.2 Bias Taxonomy: Character vs. Context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D5D55-F2C5-5D0B-9CC2-9A4D41632D55}"/>
              </a:ext>
            </a:extLst>
          </p:cNvPr>
          <p:cNvSpPr>
            <a:spLocks noGrp="1"/>
          </p:cNvSpPr>
          <p:nvPr>
            <p:ph type="body" sz="half" idx="34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FOUNDATIONAL DIMENSIONS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35E109-F693-6C38-848A-3EEBB05ED48D}"/>
              </a:ext>
            </a:extLst>
          </p:cNvPr>
          <p:cNvSpPr>
            <a:spLocks noGrp="1"/>
          </p:cNvSpPr>
          <p:nvPr>
            <p:ph type="body" sz="half" idx="36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4.1 Character-Centric Attributes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16C1676-4695-2653-47C9-B65A979B6375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We extract protagonist attributes per story and categorize them into five trait groups (Koch et al. ABC Model, extended):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/>
              <a:t>Physical: </a:t>
            </a:r>
            <a:r>
              <a:rPr lang="en-US" sz="1400" dirty="0"/>
              <a:t>appearance, beauty, hair (e.g., सुंदर, प्यारी)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/>
              <a:t>Emotional: </a:t>
            </a:r>
            <a:r>
              <a:rPr lang="en-US" sz="1400" dirty="0"/>
              <a:t>feelings, mood (खुश, joyful)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/>
              <a:t>Mental: </a:t>
            </a:r>
            <a:r>
              <a:rPr lang="en-US" sz="1400" dirty="0"/>
              <a:t>cognition (curious, चतुर)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/>
              <a:t>Moral: </a:t>
            </a:r>
            <a:r>
              <a:rPr lang="en-US" sz="1400" dirty="0"/>
              <a:t>ethics (kind, दयालु)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/>
              <a:t>Other: </a:t>
            </a:r>
            <a:r>
              <a:rPr lang="en-US" sz="1400" dirty="0"/>
              <a:t>abstract / magical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EA96616-1981-757D-A905-79DD7A0A006F}"/>
              </a:ext>
            </a:extLst>
          </p:cNvPr>
          <p:cNvSpPr>
            <a:spLocks noGrp="1"/>
          </p:cNvSpPr>
          <p:nvPr>
            <p:ph type="body" sz="half" idx="38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4.2 Context-Centric Attributes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0C7F2F6-6F82-5726-D83F-7CE5480898CE}"/>
              </a:ext>
            </a:extLst>
          </p:cNvPr>
          <p:cNvSpPr>
            <a:spLocks noGrp="1"/>
          </p:cNvSpPr>
          <p:nvPr>
            <p:ph type="body" sz="half" idx="39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We extract three contextual elements per story to characterize the narrative setting: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/>
              <a:t>Geographic location: </a:t>
            </a:r>
            <a:r>
              <a:rPr lang="en-US" sz="1400" dirty="0"/>
              <a:t>village, forest, desert, mountain, water, magical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/>
              <a:t>Urban setting: </a:t>
            </a:r>
            <a:r>
              <a:rPr lang="en-US" sz="1400" dirty="0"/>
              <a:t>city, town, village, none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/>
              <a:t>Socioeconomic indicators: </a:t>
            </a:r>
            <a:r>
              <a:rPr lang="en-US" sz="1400" dirty="0"/>
              <a:t>poor, middle-class, wealthy, none</a:t>
            </a:r>
          </a:p>
          <a:p>
            <a:r>
              <a:rPr lang="en-US" sz="1400" i="1" dirty="0"/>
              <a:t>We then aggregate distributions across demographic groups to surface stereotypical associations (e.g., desert with Middle-Eastern, village with rural Indian).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6A76BD-0E5B-EFE5-951F-F34825D36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Rutgers University  |  Computer Science Graduate Program</a:t>
            </a:r>
          </a:p>
        </p:txBody>
      </p:sp>
    </p:spTree>
    <p:extLst>
      <p:ext uri="{BB962C8B-B14F-4D97-AF65-F5344CB8AC3E}">
        <p14:creationId xmlns:p14="http://schemas.microsoft.com/office/powerpoint/2010/main" val="2500300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946A-D68D-433D-B07E-871CAF1B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4.3 Predictability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FAAE6-6D19-E831-463D-6019A96EEF0D}"/>
              </a:ext>
            </a:extLst>
          </p:cNvPr>
          <p:cNvSpPr>
            <a:spLocks noGrp="1"/>
          </p:cNvSpPr>
          <p:nvPr>
            <p:ph type="body" sz="half" idx="34"/>
          </p:nvPr>
        </p:nvSpPr>
        <p:spPr/>
        <p:txBody>
          <a:bodyPr>
            <a:normAutofit/>
          </a:bodyPr>
          <a:lstStyle/>
          <a:p>
            <a:r>
              <a:rPr lang="en-US" dirty="0"/>
              <a:t>MEASURING IMPLICIT BIAS THROUGH CLASSIFIER RECOVERY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52AD82-04B5-FC23-C104-2619F26E482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Following Biased Tales §5.2, we measure how strongly each demographic axis is encoded in story text by training a classifier to recover that axis from the text alone: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/>
              <a:t>Demographic scrubbing: </a:t>
            </a:r>
            <a:r>
              <a:rPr lang="en-US" dirty="0"/>
              <a:t>explicit indicator words (daughter, son, Hindu, Muslim, Punjabi, Tamil, etc.) are removed from story text to prevent trivial recovery.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/>
              <a:t>TF-IDF vectorization: </a:t>
            </a:r>
            <a:r>
              <a:rPr lang="en-US" dirty="0"/>
              <a:t>5,000 lexical features per story.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/>
              <a:t>Classifiers: </a:t>
            </a:r>
            <a:r>
              <a:rPr lang="en-US" dirty="0"/>
              <a:t>Logistic Regression (LR) and Multilayer Perceptron (MLP).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/>
              <a:t>Validation: </a:t>
            </a:r>
            <a:r>
              <a:rPr lang="en-US" dirty="0"/>
              <a:t>5-fold stratified cross-validation; baseline = majority-class prediction.</a:t>
            </a:r>
          </a:p>
          <a:p>
            <a:pPr>
              <a:buNone/>
            </a:pPr>
            <a:r>
              <a:rPr lang="en-US" b="1" dirty="0"/>
              <a:t>Logic: </a:t>
            </a:r>
            <a:r>
              <a:rPr lang="en-US" dirty="0"/>
              <a:t>if the classifier predicts a child’s gender or a parent’s ethnicity from scrubbed story text, the LLM has implicitly encoded that demographic into the narrative.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072DE-E7F1-E59D-BDB1-8A59BDAF34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Rutgers University  |  Computer Science Graduate Program</a:t>
            </a:r>
          </a:p>
        </p:txBody>
      </p:sp>
    </p:spTree>
    <p:extLst>
      <p:ext uri="{BB962C8B-B14F-4D97-AF65-F5344CB8AC3E}">
        <p14:creationId xmlns:p14="http://schemas.microsoft.com/office/powerpoint/2010/main" val="1764192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D9A9D-068D-CF2A-574D-97CBC24D5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4.4 Multilingual Bias Evaluation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E42F1-33F9-F41C-BFAC-54ADDB76FC0F}"/>
              </a:ext>
            </a:extLst>
          </p:cNvPr>
          <p:cNvSpPr>
            <a:spLocks noGrp="1"/>
          </p:cNvSpPr>
          <p:nvPr>
            <p:ph type="body" sz="half" idx="34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THREE COMPLEMENTARY ANALYSIS LAYERS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5C03D56-72EB-4232-0B72-860CB2795F8E}"/>
              </a:ext>
            </a:extLst>
          </p:cNvPr>
          <p:cNvSpPr>
            <a:spLocks noGrp="1"/>
          </p:cNvSpPr>
          <p:nvPr>
            <p:ph type="body" sz="half" idx="36"/>
          </p:nvPr>
        </p:nvSpPr>
        <p:spPr>
          <a:xfrm>
            <a:off x="731521" y="1695634"/>
            <a:ext cx="2951326" cy="530208"/>
          </a:xfrm>
        </p:spPr>
        <p:txBody>
          <a:bodyPr>
            <a:normAutofit/>
          </a:bodyPr>
          <a:lstStyle/>
          <a:p>
            <a:r>
              <a:rPr lang="en-US" sz="1800" b="1" dirty="0"/>
              <a:t>Trait-Level Analysis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4B179D-08B5-BF5A-4946-43C589314938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731520" y="2225839"/>
            <a:ext cx="2944368" cy="36314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Pearson word-correlation analysis: </a:t>
            </a:r>
            <a:r>
              <a:rPr lang="en-US" sz="1400" dirty="0"/>
              <a:t>which terms most strongly correlate with each demographic axis in each language?</a:t>
            </a:r>
          </a:p>
          <a:p>
            <a:pPr>
              <a:buNone/>
            </a:pPr>
            <a:r>
              <a:rPr lang="en-US" sz="1400" dirty="0"/>
              <a:t>GPT-4o-mini structured-JSON extraction of protagonist traits, settings, themes for all 3,132 stories.</a:t>
            </a:r>
          </a:p>
          <a:p>
            <a:pPr>
              <a:buNone/>
            </a:pPr>
            <a:r>
              <a:rPr lang="en-US" sz="1400" dirty="0"/>
              <a:t>Trait → 5-category mapping (Physical/Emotional/Mental/Moral/Other) per language.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2E39A1-6223-2D31-FE29-6C4FE8A50E0D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626864" y="1695634"/>
            <a:ext cx="2944368" cy="530208"/>
          </a:xfrm>
        </p:spPr>
        <p:txBody>
          <a:bodyPr>
            <a:normAutofit/>
          </a:bodyPr>
          <a:lstStyle/>
          <a:p>
            <a:r>
              <a:rPr lang="en-US" sz="1800" b="1" dirty="0"/>
              <a:t>Context-Level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22A64E-2AF9-C6BE-6BE5-133E29796622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624989" y="2225842"/>
            <a:ext cx="2944368" cy="363146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400" dirty="0"/>
              <a:t>Geographic distribution of settings per nationality / ethnicity / religion.</a:t>
            </a:r>
          </a:p>
          <a:p>
            <a:pPr>
              <a:buNone/>
            </a:pPr>
            <a:r>
              <a:rPr lang="en-US" sz="1400" dirty="0"/>
              <a:t>Tone analysis: adventure / emotional / friendship / moral counts.</a:t>
            </a:r>
          </a:p>
          <a:p>
            <a:pPr>
              <a:buNone/>
            </a:pPr>
            <a:r>
              <a:rPr lang="en-US" sz="1400" dirty="0"/>
              <a:t>Theme distribution by religion (e.g., दोस्ती / friendship, साहस / courage).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EC06A7-C6D3-9838-1D90-65F638F7990F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513064" y="1730585"/>
            <a:ext cx="2944368" cy="522378"/>
          </a:xfrm>
        </p:spPr>
        <p:txBody>
          <a:bodyPr>
            <a:normAutofit/>
          </a:bodyPr>
          <a:lstStyle/>
          <a:p>
            <a:r>
              <a:rPr lang="en-US" sz="1800" b="1" dirty="0"/>
              <a:t>Annotation Validity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3C4E8-5CBD-591F-035D-66446E6B07BE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8513064" y="2225842"/>
            <a:ext cx="2944368" cy="363146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400" dirty="0"/>
              <a:t>Manual annotation of 11 Hindi benchmark stories.</a:t>
            </a:r>
          </a:p>
          <a:p>
            <a:pPr>
              <a:buNone/>
            </a:pPr>
            <a:r>
              <a:rPr lang="en-US" sz="1400" dirty="0"/>
              <a:t>Cosine similarity (paraphrase-multilingual-MiniLM-L12-v2) between manual and GPT-4o-mini extractions.</a:t>
            </a:r>
          </a:p>
          <a:p>
            <a:pPr>
              <a:buNone/>
            </a:pPr>
            <a:r>
              <a:rPr lang="en-US" sz="1400" i="1" dirty="0"/>
              <a:t>Validates the automated pipeline as a reliable feature extractor for the remaining 1,555 Hindi stories.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D94CF96-7649-8669-0614-CBDD3B04F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Rutgers University  |  Computer Science Graduate Program</a:t>
            </a:r>
          </a:p>
        </p:txBody>
      </p:sp>
    </p:spTree>
    <p:extLst>
      <p:ext uri="{BB962C8B-B14F-4D97-AF65-F5344CB8AC3E}">
        <p14:creationId xmlns:p14="http://schemas.microsoft.com/office/powerpoint/2010/main" val="4186245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F9F9F-1DF2-481E-8B5B-DEAC6661E8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00" y="2805221"/>
            <a:ext cx="10286999" cy="759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5. Results &amp; Discussion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141A94-9121-462D-B5D0-AC29C1E77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00" y="3791876"/>
            <a:ext cx="10286999" cy="407460"/>
          </a:xfrm>
        </p:spPr>
        <p:txBody>
          <a:bodyPr>
            <a:normAutofit/>
          </a:bodyPr>
          <a:lstStyle/>
          <a:p>
            <a:r>
              <a:rPr lang="en-US" dirty="0"/>
              <a:t>Validation, character bias, predictability, cultural flattening</a:t>
            </a:r>
          </a:p>
        </p:txBody>
      </p:sp>
    </p:spTree>
    <p:extLst>
      <p:ext uri="{BB962C8B-B14F-4D97-AF65-F5344CB8AC3E}">
        <p14:creationId xmlns:p14="http://schemas.microsoft.com/office/powerpoint/2010/main" val="3854190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9A999-D46A-DE68-8B04-97E521189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5.1 Validity Assessment: Manual vs. LLM Annotation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D5D55-F2C5-5D0B-9CC2-9A4D41632D55}"/>
              </a:ext>
            </a:extLst>
          </p:cNvPr>
          <p:cNvSpPr>
            <a:spLocks noGrp="1"/>
          </p:cNvSpPr>
          <p:nvPr>
            <p:ph type="body" sz="half" idx="34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AUTOMATED PIPELINE IS RELIABLE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35E109-F693-6C38-848A-3EEBB05ED48D}"/>
              </a:ext>
            </a:extLst>
          </p:cNvPr>
          <p:cNvSpPr>
            <a:spLocks noGrp="1"/>
          </p:cNvSpPr>
          <p:nvPr>
            <p:ph type="body" sz="half" idx="36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Validation Protocol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16C1676-4695-2653-47C9-B65A979B6375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Manual annotation: </a:t>
            </a:r>
            <a:r>
              <a:rPr lang="en-US" dirty="0"/>
              <a:t>11 Hindi benchmark stories hand-annotated for protagonist name, traits, setting, theme, tone.</a:t>
            </a:r>
          </a:p>
          <a:p>
            <a:r>
              <a:rPr lang="en-US" b="1" dirty="0"/>
              <a:t>Automated annotation: </a:t>
            </a:r>
            <a:r>
              <a:rPr lang="en-US" dirty="0"/>
              <a:t>GPT-4o-mini structured-JSON extraction of the same fields for all 1,566 Hindi stories (and 1,566 English).</a:t>
            </a:r>
          </a:p>
          <a:p>
            <a:r>
              <a:rPr lang="en-US" dirty="0"/>
              <a:t>Both annotation sets embedded with paraphrase-multilingual-MiniLM-L12-v2 and compared via cosine similarity.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EA96616-1981-757D-A905-79DD7A0A006F}"/>
              </a:ext>
            </a:extLst>
          </p:cNvPr>
          <p:cNvSpPr>
            <a:spLocks noGrp="1"/>
          </p:cNvSpPr>
          <p:nvPr>
            <p:ph type="body" sz="half" idx="38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Cosine Similarity Scores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0C7F2F6-6F82-5726-D83F-7CE5480898CE}"/>
              </a:ext>
            </a:extLst>
          </p:cNvPr>
          <p:cNvSpPr>
            <a:spLocks noGrp="1"/>
          </p:cNvSpPr>
          <p:nvPr>
            <p:ph type="body" sz="half" idx="39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CC0033"/>
                </a:solidFill>
              </a:rPr>
              <a:t>0.808</a:t>
            </a:r>
            <a:r>
              <a:rPr lang="en-US" sz="1600" dirty="0"/>
              <a:t> Character traits</a:t>
            </a:r>
          </a:p>
          <a:p>
            <a:r>
              <a:rPr lang="en-US" sz="2400" b="1" dirty="0">
                <a:solidFill>
                  <a:srgbClr val="333333"/>
                </a:solidFill>
              </a:rPr>
              <a:t>0.757</a:t>
            </a:r>
            <a:r>
              <a:rPr lang="en-US" sz="1600" dirty="0"/>
              <a:t>  Narrative setting</a:t>
            </a:r>
          </a:p>
          <a:p>
            <a:r>
              <a:rPr lang="en-US" sz="2400" b="1" dirty="0">
                <a:solidFill>
                  <a:srgbClr val="333333"/>
                </a:solidFill>
              </a:rPr>
              <a:t>0.669</a:t>
            </a:r>
            <a:r>
              <a:rPr lang="en-US" sz="1600" dirty="0"/>
              <a:t>  Story theme</a:t>
            </a:r>
          </a:p>
          <a:p>
            <a:r>
              <a:rPr lang="en-US" sz="2400" b="1" dirty="0">
                <a:solidFill>
                  <a:srgbClr val="333333"/>
                </a:solidFill>
              </a:rPr>
              <a:t>0.745</a:t>
            </a:r>
            <a:r>
              <a:rPr lang="en-US" sz="1600" dirty="0"/>
              <a:t>  Overall agreement</a:t>
            </a:r>
          </a:p>
          <a:p>
            <a:r>
              <a:rPr lang="en-US" sz="1400" i="1" dirty="0"/>
              <a:t>Comparable to the 0.755 human-vs-GPT-4o agreement reported in Biased Tales — confirms the automated pipeline as a reliable feature extractor.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6A76BD-0E5B-EFE5-951F-F34825D36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Rutgers University  |  Computer Science Graduate Program</a:t>
            </a:r>
          </a:p>
        </p:txBody>
      </p:sp>
    </p:spTree>
    <p:extLst>
      <p:ext uri="{BB962C8B-B14F-4D97-AF65-F5344CB8AC3E}">
        <p14:creationId xmlns:p14="http://schemas.microsoft.com/office/powerpoint/2010/main" val="2500300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9A999-D46A-DE68-8B04-97E521189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5.2 Character-Centric Results: Gender Trait Bias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D5D55-F2C5-5D0B-9CC2-9A4D41632D55}"/>
              </a:ext>
            </a:extLst>
          </p:cNvPr>
          <p:cNvSpPr>
            <a:spLocks noGrp="1"/>
          </p:cNvSpPr>
          <p:nvPr>
            <p:ph type="body" sz="half" idx="34"/>
          </p:nvPr>
        </p:nvSpPr>
        <p:spPr/>
        <p:txBody>
          <a:bodyPr>
            <a:normAutofit/>
          </a:bodyPr>
          <a:lstStyle/>
          <a:p>
            <a:r>
              <a:rPr lang="en-US" dirty="0"/>
              <a:t>APPEARANCE BIAS REPRODUCES IN HINDI, ALIGNMENT-REMOVED IN ENGLISH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35E109-F693-6C38-848A-3EEBB05ED48D}"/>
              </a:ext>
            </a:extLst>
          </p:cNvPr>
          <p:cNvSpPr>
            <a:spLocks noGrp="1"/>
          </p:cNvSpPr>
          <p:nvPr>
            <p:ph type="body" sz="half" idx="36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English (1,566 stories)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16C1676-4695-2653-47C9-B65A979B6375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Physical traits collapse: </a:t>
            </a:r>
            <a:r>
              <a:rPr lang="en-US" sz="1400" dirty="0"/>
              <a:t>1.2% (daughter) vs 1.8% (son) — essentially zero in both.</a:t>
            </a:r>
          </a:p>
          <a:p>
            <a:r>
              <a:rPr lang="en-US" sz="1400" dirty="0"/>
              <a:t>Categories balance out across genders. Yet softer skews remain: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joyful (1.96×), caring (1.78×), gentle (1.60×) → daughter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brave (1.61×), proud (1.58×), friendly (1.52×) → son</a:t>
            </a:r>
          </a:p>
          <a:p>
            <a:r>
              <a:rPr lang="en-US" sz="1400" i="1" dirty="0"/>
              <a:t>English alignment has scrubbed appearance language but retains a softer agency-vs-emotion split.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EA96616-1981-757D-A905-79DD7A0A006F}"/>
              </a:ext>
            </a:extLst>
          </p:cNvPr>
          <p:cNvSpPr>
            <a:spLocks noGrp="1"/>
          </p:cNvSpPr>
          <p:nvPr>
            <p:ph type="body" sz="half" idx="38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Hindi (1,566 stories)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0C7F2F6-6F82-5726-D83F-7CE5480898CE}"/>
              </a:ext>
            </a:extLst>
          </p:cNvPr>
          <p:cNvSpPr>
            <a:spLocks noGrp="1"/>
          </p:cNvSpPr>
          <p:nvPr>
            <p:ph type="body" sz="half" idx="39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Physical traits </a:t>
            </a:r>
            <a:r>
              <a:rPr lang="en-US" sz="1400" dirty="0"/>
              <a:t>19.4% (daughter) vs 14.0% (son) — </a:t>
            </a:r>
            <a:r>
              <a:rPr lang="en-US" sz="1400" b="1" dirty="0">
                <a:solidFill>
                  <a:srgbClr val="CC0033"/>
                </a:solidFill>
              </a:rPr>
              <a:t>+38.6%</a:t>
            </a:r>
            <a:r>
              <a:rPr lang="en-US" sz="1400" dirty="0"/>
              <a:t> relative gap.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Daughter-pulling words: प्यारी (lovely), चुलबुली (bubbly), सुंदर (beautiful)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Son-pulling words: साहसी (brave), चतुर (clever), जिज्ञासु (curious)</a:t>
            </a:r>
          </a:p>
          <a:p>
            <a:r>
              <a:rPr lang="en-US" sz="1400" i="1" dirty="0"/>
              <a:t>Directionally matches the +55.26% from English Biased Tales (GPT-4o). The classic appearance bias survives in Hindi but has been alignment-removed in English.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6A76BD-0E5B-EFE5-951F-F34825D36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Rutgers University  |  Computer Science Graduate Program</a:t>
            </a:r>
          </a:p>
        </p:txBody>
      </p:sp>
    </p:spTree>
    <p:extLst>
      <p:ext uri="{BB962C8B-B14F-4D97-AF65-F5344CB8AC3E}">
        <p14:creationId xmlns:p14="http://schemas.microsoft.com/office/powerpoint/2010/main" val="2500300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946A-D68D-433D-B07E-871CAF1B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5.3 Predictability: A Massive Cross-Lingual Gap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FAAE6-6D19-E831-463D-6019A96EEF0D}"/>
              </a:ext>
            </a:extLst>
          </p:cNvPr>
          <p:cNvSpPr>
            <a:spLocks noGrp="1"/>
          </p:cNvSpPr>
          <p:nvPr>
            <p:ph type="body" sz="half" idx="34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CLASSIFIERS REVEAL DIVERGENT BIAS ENCODING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52AD82-04B5-FC23-C104-2619F26E482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5-fold CV accuracy on TF-IDF features after demographic scrubbing: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/>
              <a:t>Child gender </a:t>
            </a:r>
            <a:r>
              <a:rPr lang="en-US" sz="1400" dirty="0"/>
              <a:t>(baseline 33.3%): English 67.3% LR / 60.5% MLP  ·  Hindi 64.5% LR / 55.0% MLP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/>
              <a:t>Religion </a:t>
            </a:r>
            <a:r>
              <a:rPr lang="en-US" dirty="0"/>
              <a:t>(baseline 10%, 10 classes): </a:t>
            </a:r>
            <a:r>
              <a:rPr lang="en-US" sz="1400" b="1" dirty="0">
                <a:solidFill>
                  <a:srgbClr val="CC0033"/>
                </a:solidFill>
              </a:rPr>
              <a:t>English 69.4% LR / 67.2% MLP</a:t>
            </a:r>
            <a:r>
              <a:rPr lang="en-US" sz="1400" dirty="0"/>
              <a:t>  ·  Hindi 16.1% LR / 17.8% MLP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/>
              <a:t>Ethnicity </a:t>
            </a:r>
            <a:r>
              <a:rPr lang="en-US" sz="1400" dirty="0"/>
              <a:t>(baseline 2.5%, 40 classes): English 14.6% / 18.8%  ·  Hindi 3.6% / 4.6%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/>
              <a:t>Nationality </a:t>
            </a:r>
            <a:r>
              <a:rPr lang="en-US" dirty="0"/>
              <a:t>(baseline 2.8%, 36 classes): </a:t>
            </a:r>
            <a:r>
              <a:rPr lang="en-US" sz="1400" b="1" dirty="0">
                <a:solidFill>
                  <a:srgbClr val="CC0033"/>
                </a:solidFill>
              </a:rPr>
              <a:t>English 51.2% / 59.1%</a:t>
            </a:r>
            <a:r>
              <a:rPr lang="en-US" sz="1400" dirty="0"/>
              <a:t>  ·  Hindi 3.7% / 3.4%</a:t>
            </a:r>
          </a:p>
          <a:p>
            <a:pPr>
              <a:buNone/>
            </a:pPr>
            <a:r>
              <a:rPr lang="en-US" b="1" dirty="0">
                <a:solidFill>
                  <a:srgbClr val="CC0033"/>
                </a:solidFill>
              </a:rPr>
              <a:t>Cross-lingual gap: religion 7.3×, ethnicity 7.8×, nationality 94× stronger in English.</a:t>
            </a:r>
          </a:p>
          <a:p>
            <a:pPr>
              <a:buNone/>
            </a:pPr>
            <a:r>
              <a:rPr lang="en-US" dirty="0"/>
              <a:t>Gender encodes comparably; sociocultural axes (religion / ethnicity / nationality) are dramatically more recoverable from English than Hindi.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072DE-E7F1-E59D-BDB1-8A59BDAF34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Rutgers University  |  Computer Science Graduate Program</a:t>
            </a:r>
          </a:p>
        </p:txBody>
      </p:sp>
    </p:spTree>
    <p:extLst>
      <p:ext uri="{BB962C8B-B14F-4D97-AF65-F5344CB8AC3E}">
        <p14:creationId xmlns:p14="http://schemas.microsoft.com/office/powerpoint/2010/main" val="1764192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D9A9D-068D-CF2A-574D-97CBC24D5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5.4 Context-Centric Results: Cultural Flattening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E42F1-33F9-F41C-BFAC-54ADDB76FC0F}"/>
              </a:ext>
            </a:extLst>
          </p:cNvPr>
          <p:cNvSpPr>
            <a:spLocks noGrp="1"/>
          </p:cNvSpPr>
          <p:nvPr>
            <p:ph type="body" sz="half" idx="34"/>
          </p:nvPr>
        </p:nvSpPr>
        <p:spPr/>
        <p:txBody>
          <a:bodyPr>
            <a:normAutofit/>
          </a:bodyPr>
          <a:lstStyle/>
          <a:p>
            <a:r>
              <a:rPr lang="en-US" dirty="0"/>
              <a:t>GEOGRAPHIC STEREOTYPES IN ENGLISH, MONOLITHIC PASTORAL IN HINDI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5C03D56-72EB-4232-0B72-860CB2795F8E}"/>
              </a:ext>
            </a:extLst>
          </p:cNvPr>
          <p:cNvSpPr>
            <a:spLocks noGrp="1"/>
          </p:cNvSpPr>
          <p:nvPr>
            <p:ph type="body" sz="half" idx="36"/>
          </p:nvPr>
        </p:nvSpPr>
        <p:spPr>
          <a:xfrm>
            <a:off x="731521" y="1660158"/>
            <a:ext cx="2951326" cy="584707"/>
          </a:xfrm>
        </p:spPr>
        <p:txBody>
          <a:bodyPr>
            <a:normAutofit/>
          </a:bodyPr>
          <a:lstStyle/>
          <a:p>
            <a:r>
              <a:rPr lang="en-US" b="1" dirty="0"/>
              <a:t>English: Stereotyped Settings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4B179D-08B5-BF5A-4946-43C589314938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731520" y="2271701"/>
            <a:ext cx="2944368" cy="358560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Saudi Arabia → </a:t>
            </a:r>
            <a:r>
              <a:rPr lang="en-US" sz="1400" i="1" dirty="0"/>
              <a:t>village, desert village, oasis</a:t>
            </a:r>
          </a:p>
          <a:p>
            <a:pPr>
              <a:buNone/>
            </a:pPr>
            <a:r>
              <a:rPr lang="en-US" b="1" dirty="0"/>
              <a:t>Tibet → </a:t>
            </a:r>
            <a:r>
              <a:rPr lang="en-US" sz="1400" i="1" dirty="0"/>
              <a:t>village + mountains, high mountains</a:t>
            </a:r>
          </a:p>
          <a:p>
            <a:pPr>
              <a:buNone/>
            </a:pPr>
            <a:r>
              <a:rPr lang="en-US" b="1" dirty="0"/>
              <a:t>Kenya → </a:t>
            </a:r>
            <a:r>
              <a:rPr lang="en-US" sz="1400" i="1" dirty="0"/>
              <a:t>village + forest + stream + pond</a:t>
            </a:r>
          </a:p>
          <a:p>
            <a:pPr>
              <a:buNone/>
            </a:pPr>
            <a:r>
              <a:rPr lang="en-US" b="1" dirty="0"/>
              <a:t>Christian → </a:t>
            </a:r>
            <a:r>
              <a:rPr lang="en-US" sz="1400" i="1" dirty="0"/>
              <a:t>god (r=0.73), prayer (r=0.60)</a:t>
            </a:r>
          </a:p>
          <a:p>
            <a:pPr>
              <a:buNone/>
            </a:pPr>
            <a:r>
              <a:rPr lang="en-US" b="1" dirty="0"/>
              <a:t>Tribal → </a:t>
            </a:r>
            <a:r>
              <a:rPr lang="en-US" sz="1400" i="1" dirty="0"/>
              <a:t>wise, forest, owl</a:t>
            </a:r>
          </a:p>
          <a:p>
            <a:pPr>
              <a:buNone/>
            </a:pPr>
            <a:r>
              <a:rPr lang="en-US" sz="1300" i="1" dirty="0"/>
              <a:t>Reproduces Biased Tales’s English findings exactly.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2E39A1-6223-2D31-FE29-6C4FE8A50E0D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626864" y="1660158"/>
            <a:ext cx="2944368" cy="584707"/>
          </a:xfrm>
        </p:spPr>
        <p:txBody>
          <a:bodyPr>
            <a:normAutofit/>
          </a:bodyPr>
          <a:lstStyle/>
          <a:p>
            <a:r>
              <a:rPr lang="en-US" b="1" dirty="0"/>
              <a:t>Hindi: Cultural Flattening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22A64E-2AF9-C6BE-6BE5-133E29796622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624989" y="2271705"/>
            <a:ext cx="2944368" cy="35856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Saudi Arabia → </a:t>
            </a:r>
            <a:r>
              <a:rPr lang="en-US" sz="1400" i="1" dirty="0"/>
              <a:t>गाँव / जंगल (generic)</a:t>
            </a:r>
          </a:p>
          <a:p>
            <a:pPr>
              <a:buNone/>
            </a:pPr>
            <a:r>
              <a:rPr lang="en-US" b="1" dirty="0"/>
              <a:t>Tibet → </a:t>
            </a:r>
            <a:r>
              <a:rPr lang="en-US" sz="1400" i="1" dirty="0"/>
              <a:t>गाँव / जंगल (generic)</a:t>
            </a:r>
          </a:p>
          <a:p>
            <a:pPr>
              <a:buNone/>
            </a:pPr>
            <a:r>
              <a:rPr lang="en-US" b="1" dirty="0"/>
              <a:t>Kenya → </a:t>
            </a:r>
            <a:r>
              <a:rPr lang="en-US" sz="1400" i="1" dirty="0"/>
              <a:t>गाँव / जंगल (generic)</a:t>
            </a:r>
          </a:p>
          <a:p>
            <a:pPr>
              <a:buNone/>
            </a:pPr>
            <a:r>
              <a:rPr lang="en-US" b="1" dirty="0"/>
              <a:t>Christian → </a:t>
            </a:r>
            <a:r>
              <a:rPr lang="en-US" sz="1400" i="1" dirty="0"/>
              <a:t>no distinctive religious vocabulary</a:t>
            </a:r>
          </a:p>
          <a:p>
            <a:pPr>
              <a:buNone/>
            </a:pPr>
            <a:r>
              <a:rPr lang="en-US" b="1" dirty="0"/>
              <a:t>Tribal → </a:t>
            </a:r>
            <a:r>
              <a:rPr lang="en-US" sz="1400" i="1" dirty="0"/>
              <a:t>जंगल (forest) only</a:t>
            </a:r>
          </a:p>
          <a:p>
            <a:pPr>
              <a:buNone/>
            </a:pPr>
            <a:r>
              <a:rPr lang="en-US" sz="1300" i="1" dirty="0"/>
              <a:t>All 36 nationalities and 10 religions converge into a single pastoral Indian template.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EC06A7-C6D3-9838-1D90-65F638F7990F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513064" y="1695633"/>
            <a:ext cx="2944368" cy="576072"/>
          </a:xfrm>
        </p:spPr>
        <p:txBody>
          <a:bodyPr>
            <a:normAutofit/>
          </a:bodyPr>
          <a:lstStyle/>
          <a:p>
            <a:r>
              <a:rPr lang="en-US" b="1" dirty="0"/>
              <a:t>Tone &amp; Theme Convergence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3C4E8-5CBD-591F-035D-66446E6B07BE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8513064" y="2271705"/>
            <a:ext cx="2944368" cy="35856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400" i="1" dirty="0"/>
              <a:t>A Punjabi mother’s and a Tamil mother’s Hindi stories are stylistically and lexically indistinguishable.</a:t>
            </a:r>
          </a:p>
          <a:p>
            <a:pPr>
              <a:buNone/>
            </a:pPr>
            <a:r>
              <a:rPr lang="en-US" sz="1400" b="1" dirty="0"/>
              <a:t>Daughter:Son emotional-tone ratio:</a:t>
            </a:r>
          </a:p>
          <a:p>
            <a:pPr>
              <a:buNone/>
            </a:pPr>
            <a:r>
              <a:rPr lang="en-US" sz="1400" dirty="0"/>
              <a:t>English 1.56×   ·   Hindi 2.42×</a:t>
            </a:r>
          </a:p>
          <a:p>
            <a:pPr>
              <a:buNone/>
            </a:pPr>
            <a:r>
              <a:rPr lang="en-US" sz="1400" dirty="0"/>
              <a:t>All 10 religions in Hindi converge on three themes: दोस्ती (friendship), मदद (help), साहस (courage).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D94CF96-7649-8669-0614-CBDD3B04F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Rutgers University  |  Computer Science Graduate Program</a:t>
            </a:r>
          </a:p>
        </p:txBody>
      </p:sp>
    </p:spTree>
    <p:extLst>
      <p:ext uri="{BB962C8B-B14F-4D97-AF65-F5344CB8AC3E}">
        <p14:creationId xmlns:p14="http://schemas.microsoft.com/office/powerpoint/2010/main" val="4186245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946A-D68D-433D-B07E-871CAF1B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5.5 Toxicity &amp; Readability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FAAE6-6D19-E831-463D-6019A96EEF0D}"/>
              </a:ext>
            </a:extLst>
          </p:cNvPr>
          <p:cNvSpPr>
            <a:spLocks noGrp="1"/>
          </p:cNvSpPr>
          <p:nvPr>
            <p:ph type="body" sz="half" idx="34"/>
          </p:nvPr>
        </p:nvSpPr>
        <p:spPr/>
        <p:txBody>
          <a:bodyPr>
            <a:normAutofit/>
          </a:bodyPr>
          <a:lstStyle/>
          <a:p>
            <a:r>
              <a:rPr lang="en-US" dirty="0"/>
              <a:t>BIAS OCCURS WITHIN OTHERWISE READABLE, SAFE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52AD82-04B5-FC23-C104-2619F26E482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All stories are age-appropriate and safe. Bias occurs within otherwise highly readable text.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/>
              <a:t>Readability (English): </a:t>
            </a:r>
            <a:r>
              <a:rPr lang="en-US" sz="1400" dirty="0"/>
              <a:t>Flesch Reading Ease 81.3 (“very easy”), FK Grade 4.89 — typical of children’s books.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/>
              <a:t>Length: </a:t>
            </a:r>
            <a:r>
              <a:rPr lang="en-US" sz="1400" dirty="0"/>
              <a:t>English mean 328.5 words, Hindi mean 289.3 words; both within the 220–380 target band.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/>
              <a:t>Toxicity (OpenAI omni-moderation-latest):</a:t>
            </a:r>
          </a:p>
          <a:p>
            <a:pPr lvl="2"/>
            <a:r>
              <a:rPr lang="en-US" sz="1400" dirty="0"/>
              <a:t>English flagged: 9 / 1,566 (0.57%)</a:t>
            </a:r>
          </a:p>
          <a:p>
            <a:pPr lvl="2"/>
            <a:r>
              <a:rPr lang="en-US" sz="1400" dirty="0"/>
              <a:t>Hindi flagged: 32 / 1,566 (</a:t>
            </a:r>
            <a:r>
              <a:rPr lang="en-US" sz="1400" b="1" dirty="0">
                <a:solidFill>
                  <a:srgbClr val="CC0033"/>
                </a:solidFill>
              </a:rPr>
              <a:t>2.04%</a:t>
            </a:r>
            <a:r>
              <a:rPr lang="en-US" sz="1400" dirty="0"/>
              <a:t>) — 4× higher than English</a:t>
            </a:r>
          </a:p>
          <a:p>
            <a:pPr lvl="2"/>
            <a:r>
              <a:rPr lang="en-US" sz="1400" i="1" dirty="0"/>
              <a:t>Both flag rates dominated by folk-tale tropes (wolves, forest danger) — false positives.</a:t>
            </a:r>
          </a:p>
          <a:p>
            <a:pPr>
              <a:buNone/>
            </a:pPr>
            <a:r>
              <a:rPr lang="en-US" b="1" dirty="0"/>
              <a:t>Implication: </a:t>
            </a:r>
            <a:r>
              <a:rPr lang="en-US" sz="1400" dirty="0"/>
              <a:t>English-centric safety filters generalize imperfectly to Hindi narrative structures, mirroring the alignment-imbalance pattern observed in our bias results.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072DE-E7F1-E59D-BDB1-8A59BDAF34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Rutgers University  |  Computer Science Graduate Program</a:t>
            </a:r>
          </a:p>
        </p:txBody>
      </p:sp>
    </p:spTree>
    <p:extLst>
      <p:ext uri="{BB962C8B-B14F-4D97-AF65-F5344CB8AC3E}">
        <p14:creationId xmlns:p14="http://schemas.microsoft.com/office/powerpoint/2010/main" val="1764192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9A999-D46A-DE68-8B04-97E521189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6. Discussion: Why the Cross-Lingual Gap?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D5D55-F2C5-5D0B-9CC2-9A4D41632D55}"/>
              </a:ext>
            </a:extLst>
          </p:cNvPr>
          <p:cNvSpPr>
            <a:spLocks noGrp="1"/>
          </p:cNvSpPr>
          <p:nvPr>
            <p:ph type="body" sz="half" idx="34"/>
          </p:nvPr>
        </p:nvSpPr>
        <p:spPr/>
        <p:txBody>
          <a:bodyPr>
            <a:normAutofit/>
          </a:bodyPr>
          <a:lstStyle/>
          <a:p>
            <a:r>
              <a:rPr lang="en-US" dirty="0"/>
              <a:t>MECHANISMS AND IMPLICATIONS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35E109-F693-6C38-848A-3EEBB05ED48D}"/>
              </a:ext>
            </a:extLst>
          </p:cNvPr>
          <p:cNvSpPr>
            <a:spLocks noGrp="1"/>
          </p:cNvSpPr>
          <p:nvPr>
            <p:ph type="body" sz="half" idx="36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Why does the gap exist?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16C1676-4695-2653-47C9-B65A979B6375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/>
          </a:bodyPr>
          <a:lstStyle/>
          <a:p>
            <a:r>
              <a:rPr lang="en-US" sz="1500" dirty="0"/>
              <a:t>Three plausible mechanisms, likely all contributing:</a:t>
            </a:r>
          </a:p>
          <a:p>
            <a:r>
              <a:rPr lang="en-US" b="1" dirty="0"/>
              <a:t>Training-data imbalance: </a:t>
            </a:r>
            <a:r>
              <a:rPr lang="en-US" sz="1400" dirty="0"/>
              <a:t>GPT-4o-mini has seen vastly more English than Hindi text. English carries rich, differentiated vocabularies for “Saudi Arabia” or “Christianity”; Hindi has a shallower, more generic representation.</a:t>
            </a:r>
          </a:p>
          <a:p>
            <a:r>
              <a:rPr lang="en-US" b="1" dirty="0"/>
              <a:t>Alignment-effort imbalance: </a:t>
            </a:r>
            <a:r>
              <a:rPr lang="en-US" sz="1400" dirty="0"/>
              <a:t>RLHF and safety tuning are predominantly performed on English data. Appearance language has been steered out of English children’s stories but not Hindi.</a:t>
            </a:r>
          </a:p>
          <a:p>
            <a:r>
              <a:rPr lang="en-US" b="1" dirty="0"/>
              <a:t>Cultural prior: </a:t>
            </a:r>
            <a:r>
              <a:rPr lang="en-US" sz="1400" dirty="0"/>
              <a:t>the Hindi training corpus appears dominated by a pastoral Indian-fable template that the model defaults to regardless of cultural condition.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EA96616-1981-757D-A905-79DD7A0A006F}"/>
              </a:ext>
            </a:extLst>
          </p:cNvPr>
          <p:cNvSpPr>
            <a:spLocks noGrp="1"/>
          </p:cNvSpPr>
          <p:nvPr>
            <p:ph type="body" sz="half" idx="38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does it mean?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0C7F2F6-6F82-5726-D83F-7CE5480898CE}"/>
              </a:ext>
            </a:extLst>
          </p:cNvPr>
          <p:cNvSpPr>
            <a:spLocks noGrp="1"/>
          </p:cNvSpPr>
          <p:nvPr>
            <p:ph type="body" sz="half" idx="39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For evaluation: </a:t>
            </a:r>
            <a:r>
              <a:rPr lang="en-US" sz="1400" dirty="0"/>
              <a:t>English-only studies systematically over-detect stereotype expression and under-detect the gender-appearance gap. Multilingual evaluation flips both findings.</a:t>
            </a:r>
          </a:p>
          <a:p>
            <a:r>
              <a:rPr lang="en-US" b="1" dirty="0"/>
              <a:t>For mitigation: </a:t>
            </a:r>
            <a:r>
              <a:rPr lang="en-US" sz="1400" dirty="0"/>
              <a:t>alignment work does not transfer across languages. Reducing appearance bias in English does not reduce it in Hindi.</a:t>
            </a:r>
          </a:p>
          <a:p>
            <a:r>
              <a:rPr lang="en-US" b="1" dirty="0"/>
              <a:t>For users: </a:t>
            </a:r>
            <a:r>
              <a:rPr lang="en-US" sz="1400" dirty="0"/>
              <a:t>a Hindi-speaking parent asking for a “Punjabi mother’s” vs “Tamil mother’s” bedtime story gets indistinguishable output — the model homogenizes Indian regional identity. An English-speaking parent asking for a “Saudi father’s” bedtime story gets desert imagery — the model stereotypes.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6A76BD-0E5B-EFE5-951F-F34825D36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Rutgers University  |  Computer Science Graduate Program</a:t>
            </a:r>
          </a:p>
        </p:txBody>
      </p:sp>
    </p:spTree>
    <p:extLst>
      <p:ext uri="{BB962C8B-B14F-4D97-AF65-F5344CB8AC3E}">
        <p14:creationId xmlns:p14="http://schemas.microsoft.com/office/powerpoint/2010/main" val="25003004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D9A9D-068D-CF2A-574D-97CBC24D5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7. Limitations &amp; Future Work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E42F1-33F9-F41C-BFAC-54ADDB76FC0F}"/>
              </a:ext>
            </a:extLst>
          </p:cNvPr>
          <p:cNvSpPr>
            <a:spLocks noGrp="1"/>
          </p:cNvSpPr>
          <p:nvPr>
            <p:ph type="body" sz="half" idx="34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DEFINING THE BOUNDARIES, MAPPING THE NEXT STEPS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5C03D56-72EB-4232-0B72-860CB2795F8E}"/>
              </a:ext>
            </a:extLst>
          </p:cNvPr>
          <p:cNvSpPr>
            <a:spLocks noGrp="1"/>
          </p:cNvSpPr>
          <p:nvPr>
            <p:ph type="body" sz="half" idx="36"/>
          </p:nvPr>
        </p:nvSpPr>
        <p:spPr>
          <a:xfrm>
            <a:off x="731521" y="1695634"/>
            <a:ext cx="2951326" cy="566303"/>
          </a:xfrm>
        </p:spPr>
        <p:txBody>
          <a:bodyPr>
            <a:normAutofit/>
          </a:bodyPr>
          <a:lstStyle/>
          <a:p>
            <a:r>
              <a:rPr lang="en-US" b="1" dirty="0"/>
              <a:t>Limitations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4B179D-08B5-BF5A-4946-43C589314938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731520" y="2460953"/>
            <a:ext cx="2944368" cy="339635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Single model: </a:t>
            </a:r>
            <a:r>
              <a:rPr lang="en-US" sz="1400" dirty="0"/>
              <a:t>only GPT-4o-mini. Cannot disentangle model-specific behavior or compare base vs RLHF.</a:t>
            </a:r>
          </a:p>
          <a:p>
            <a:pPr>
              <a:buNone/>
            </a:pPr>
            <a:r>
              <a:rPr lang="en-US" b="1" dirty="0"/>
              <a:t>Small per-class counts: </a:t>
            </a:r>
            <a:r>
              <a:rPr lang="en-US" sz="1400" dirty="0"/>
              <a:t>18 stories per religion class makes Hindi religion predictability noisy (±8%).</a:t>
            </a:r>
          </a:p>
          <a:p>
            <a:pPr>
              <a:buNone/>
            </a:pPr>
            <a:r>
              <a:rPr lang="en-US" b="1" dirty="0"/>
              <a:t>Hindi readability proxies: </a:t>
            </a:r>
            <a:r>
              <a:rPr lang="en-US" sz="1400" dirty="0"/>
              <a:t>AoA / FKRE do not exist for Hindi; one-sided comparison.</a:t>
            </a:r>
          </a:p>
          <a:p>
            <a:pPr>
              <a:buNone/>
            </a:pPr>
            <a:r>
              <a:rPr lang="en-US" b="1" dirty="0"/>
              <a:t>Manual set: </a:t>
            </a:r>
            <a:r>
              <a:rPr lang="en-US" sz="1400" dirty="0"/>
              <a:t>11 Hindi stories; no English manual annotations.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2E39A1-6223-2D31-FE29-6C4FE8A50E0D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626864" y="1695634"/>
            <a:ext cx="2944368" cy="566303"/>
          </a:xfrm>
        </p:spPr>
        <p:txBody>
          <a:bodyPr>
            <a:normAutofit/>
          </a:bodyPr>
          <a:lstStyle/>
          <a:p>
            <a:r>
              <a:rPr lang="en-US" b="1" dirty="0"/>
              <a:t>Trilingual Expansion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22A64E-2AF9-C6BE-6BE5-133E29796622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624989" y="2460955"/>
            <a:ext cx="2944368" cy="339635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Add Telugu / Tamil </a:t>
            </a:r>
            <a:r>
              <a:rPr lang="en-US" sz="1400" dirty="0"/>
              <a:t>to triangulate the Hindi flattening pattern — is it specific to Hindi or general to Indic languages?</a:t>
            </a:r>
          </a:p>
          <a:p>
            <a:pPr>
              <a:buNone/>
            </a:pPr>
            <a:r>
              <a:rPr lang="en-US" b="1" dirty="0"/>
              <a:t>Open-weight Hindi models </a:t>
            </a:r>
            <a:r>
              <a:rPr lang="en-US" sz="1400" dirty="0"/>
              <a:t>(Sarvam-1, Airavata) to separate model quirks from general LLM behavior.</a:t>
            </a:r>
          </a:p>
          <a:p>
            <a:pPr>
              <a:buNone/>
            </a:pPr>
            <a:r>
              <a:rPr lang="en-US" b="1" dirty="0"/>
              <a:t>Compare GPT-4o-mini vs GPT-4o </a:t>
            </a:r>
            <a:r>
              <a:rPr lang="en-US" sz="1400" dirty="0"/>
              <a:t>to test whether mini-specific alignment overshoots the appearance scrub in English.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EC06A7-C6D3-9838-1D90-65F638F7990F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513064" y="1730585"/>
            <a:ext cx="2944368" cy="557940"/>
          </a:xfrm>
        </p:spPr>
        <p:txBody>
          <a:bodyPr>
            <a:normAutofit/>
          </a:bodyPr>
          <a:lstStyle/>
          <a:p>
            <a:r>
              <a:rPr lang="en-US" b="1" dirty="0"/>
              <a:t>Scaling &amp; Validation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3C4E8-5CBD-591F-035D-66446E6B07BE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8513064" y="2460955"/>
            <a:ext cx="2944368" cy="339635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Scale per-class counts: </a:t>
            </a:r>
            <a:r>
              <a:rPr lang="en-US" sz="1400" dirty="0"/>
              <a:t>50–100 stories per religion / ethnicity class to stabilize multi-class predictability.</a:t>
            </a:r>
          </a:p>
          <a:p>
            <a:pPr>
              <a:buNone/>
            </a:pPr>
            <a:r>
              <a:rPr lang="en-US" b="1" dirty="0"/>
              <a:t>Human study: </a:t>
            </a:r>
            <a:r>
              <a:rPr lang="en-US" sz="1400" dirty="0"/>
              <a:t>recruit Hindi- and English-speaking parents to assess perceptual salience of measured biases.</a:t>
            </a:r>
          </a:p>
          <a:p>
            <a:pPr>
              <a:buNone/>
            </a:pPr>
            <a:r>
              <a:rPr lang="en-US" b="1" dirty="0"/>
              <a:t>Mitigation experiments: </a:t>
            </a:r>
            <a:r>
              <a:rPr lang="en-US" sz="1400" dirty="0"/>
              <a:t>test whether per-language alignment fine-tuning can close the appearance-bias gap in Hindi.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D94CF96-7649-8669-0614-CBDD3B04F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Rutgers University  |  Computer Science Graduate Program</a:t>
            </a:r>
          </a:p>
        </p:txBody>
      </p:sp>
    </p:spTree>
    <p:extLst>
      <p:ext uri="{BB962C8B-B14F-4D97-AF65-F5344CB8AC3E}">
        <p14:creationId xmlns:p14="http://schemas.microsoft.com/office/powerpoint/2010/main" val="4186245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FCE6B175-3C0F-6633-7C61-757CDD13E09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71" b="7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56992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utgers">
      <a:dk1>
        <a:srgbClr val="000000"/>
      </a:dk1>
      <a:lt1>
        <a:srgbClr val="FFFFFF"/>
      </a:lt1>
      <a:dk2>
        <a:srgbClr val="62666A"/>
      </a:dk2>
      <a:lt2>
        <a:srgbClr val="BBBCBC"/>
      </a:lt2>
      <a:accent1>
        <a:srgbClr val="CC0033"/>
      </a:accent1>
      <a:accent2>
        <a:srgbClr val="212121"/>
      </a:accent2>
      <a:accent3>
        <a:srgbClr val="8E0D18"/>
      </a:accent3>
      <a:accent4>
        <a:srgbClr val="666666"/>
      </a:accent4>
      <a:accent5>
        <a:srgbClr val="D7D7D7"/>
      </a:accent5>
      <a:accent6>
        <a:srgbClr val="EFEFEF"/>
      </a:accent6>
      <a:hlink>
        <a:srgbClr val="027EAB"/>
      </a:hlink>
      <a:folHlink>
        <a:srgbClr val="027EAB"/>
      </a:folHlink>
    </a:clrScheme>
    <a:fontScheme name="ppt">
      <a:majorFont>
        <a:latin typeface="PT serif"/>
        <a:ea typeface=""/>
        <a:cs typeface=""/>
      </a:majorFont>
      <a:minorFont>
        <a:latin typeface="Source sans 3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A2C74D4EF0DD4A9DAD7848AA4454B4" ma:contentTypeVersion="7" ma:contentTypeDescription="Create a new document." ma:contentTypeScope="" ma:versionID="ca25f40ebe90d9065487cf317404a2f7">
  <xsd:schema xmlns:xsd="http://www.w3.org/2001/XMLSchema" xmlns:xs="http://www.w3.org/2001/XMLSchema" xmlns:p="http://schemas.microsoft.com/office/2006/metadata/properties" xmlns:ns2="91e18175-f32a-48e9-9014-05a836c772f7" targetNamespace="http://schemas.microsoft.com/office/2006/metadata/properties" ma:root="true" ma:fieldsID="8dd2dac8d2fcf2c405ea9ba65658d9ff" ns2:_="">
    <xsd:import namespace="91e18175-f32a-48e9-9014-05a836c772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e18175-f32a-48e9-9014-05a836c772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4B8143-C3D6-460D-830C-A8DBEE85511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97FFD54-27B0-415C-8654-D843242BD071}">
  <ds:schemaRefs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purl.org/dc/elements/1.1/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A16A4A7-8C8E-4E82-9AF0-988929A7E5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e18175-f32a-48e9-9014-05a836c772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43808</TotalTime>
  <Words>2822</Words>
  <Application>Microsoft Macintosh PowerPoint</Application>
  <PresentationFormat>Widescreen</PresentationFormat>
  <Paragraphs>244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Source sans 3</vt:lpstr>
      <vt:lpstr>Arial</vt:lpstr>
      <vt:lpstr>Source Sans Pro</vt:lpstr>
      <vt:lpstr>Calibri</vt:lpstr>
      <vt:lpstr>PT serif</vt:lpstr>
      <vt:lpstr>Roboto</vt:lpstr>
      <vt:lpstr>Office Theme</vt:lpstr>
      <vt:lpstr>Multilingual Sociocultural Bias in AI Children’s Storytelling</vt:lpstr>
      <vt:lpstr>1. Introduction</vt:lpstr>
      <vt:lpstr>Introduction: The Illusion of Neutral Narrators</vt:lpstr>
      <vt:lpstr>Problem Statement &amp; Research Questions</vt:lpstr>
      <vt:lpstr>2. Related Work</vt:lpstr>
      <vt:lpstr>Three Strands of Prior Work</vt:lpstr>
      <vt:lpstr>3. Experimental Design</vt:lpstr>
      <vt:lpstr>3.1 Model Comparison</vt:lpstr>
      <vt:lpstr>3.2 Multilingual Prompt Framework</vt:lpstr>
      <vt:lpstr>3.3 Dataset Generation</vt:lpstr>
      <vt:lpstr>4. Bias Measurement Framework</vt:lpstr>
      <vt:lpstr>4.1 + 4.2 Bias Taxonomy: Character vs. Context</vt:lpstr>
      <vt:lpstr>4.3 Predictability Analysis</vt:lpstr>
      <vt:lpstr>4.4 Multilingual Bias Evaluation</vt:lpstr>
      <vt:lpstr>5. Results &amp; Discussion</vt:lpstr>
      <vt:lpstr>5.1 Validity Assessment: Manual vs. LLM Annotation</vt:lpstr>
      <vt:lpstr>5.2 Character-Centric Results: Gender Trait Bias</vt:lpstr>
      <vt:lpstr>5.3 Predictability: A Massive Cross-Lingual Gap</vt:lpstr>
      <vt:lpstr>5.4 Context-Centric Results: Cultural Flattening</vt:lpstr>
      <vt:lpstr>5.5 Toxicity &amp; Readability</vt:lpstr>
      <vt:lpstr>6. Discussion: Why the Cross-Lingual Gap?</vt:lpstr>
      <vt:lpstr>7. Limitations &amp; 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ryan-potter@uiowa.edu</dc:creator>
  <cp:lastModifiedBy>Pradhyumna Kiledar</cp:lastModifiedBy>
  <cp:revision>1060</cp:revision>
  <cp:lastPrinted>2025-06-24T12:28:49Z</cp:lastPrinted>
  <dcterms:created xsi:type="dcterms:W3CDTF">2020-01-21T18:13:39Z</dcterms:created>
  <dcterms:modified xsi:type="dcterms:W3CDTF">2026-04-27T03:13:59Z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0x01010029A2C74D4EF0DD4A9DAD7848AA4454B4</vt:lpwstr>
  </property>
  <property fmtid="{D5CDD505-2E9C-101B-9397-08002B2CF9AE}" pid="3" name="Order">
    <vt:r8>16000</vt:r8>
  </property>
  <property fmtid="{D5CDD505-2E9C-101B-9397-08002B2CF9AE}" pid="4" name="xd_ProgID">
    <vt:lpwstr/>
  </property>
  <property fmtid="{D5CDD505-2E9C-101B-9397-08002B2CF9AE}" pid="5" name="MediaServiceImageTags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xd_Signature">
    <vt:bool>false</vt:bool>
  </property>
</Properties>
</file>